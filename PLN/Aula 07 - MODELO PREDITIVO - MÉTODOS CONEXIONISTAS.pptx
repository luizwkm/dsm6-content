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9A1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4" autoAdjust="0"/>
    <p:restoredTop sz="95033" autoAdjust="0"/>
  </p:normalViewPr>
  <p:slideViewPr>
    <p:cSldViewPr snapToGrid="0">
      <p:cViewPr varScale="1">
        <p:scale>
          <a:sx n="78" d="100"/>
          <a:sy n="78" d="100"/>
        </p:scale>
        <p:origin x="878" y="7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issiany B Almeida" userId="2b0d818c48bee34c" providerId="LiveId" clId="{88AE5F53-512F-417B-8C32-381EFD7AE849}"/>
    <pc:docChg chg="modSld modMainMaster">
      <pc:chgData name="Thissiany B Almeida" userId="2b0d818c48bee34c" providerId="LiveId" clId="{88AE5F53-512F-417B-8C32-381EFD7AE849}" dt="2024-01-16T04:15:40.315" v="116" actId="20577"/>
      <pc:docMkLst>
        <pc:docMk/>
      </pc:docMkLst>
      <pc:sldChg chg="modSp mod">
        <pc:chgData name="Thissiany B Almeida" userId="2b0d818c48bee34c" providerId="LiveId" clId="{88AE5F53-512F-417B-8C32-381EFD7AE849}" dt="2024-01-16T04:15:40.315" v="116" actId="20577"/>
        <pc:sldMkLst>
          <pc:docMk/>
          <pc:sldMk cId="499882691" sldId="260"/>
        </pc:sldMkLst>
        <pc:spChg chg="mod">
          <ac:chgData name="Thissiany B Almeida" userId="2b0d818c48bee34c" providerId="LiveId" clId="{88AE5F53-512F-417B-8C32-381EFD7AE849}" dt="2024-01-16T04:15:40.315" v="116" actId="20577"/>
          <ac:spMkLst>
            <pc:docMk/>
            <pc:sldMk cId="499882691" sldId="260"/>
            <ac:spMk id="3" creationId="{2AC7E88A-5AE9-46E6-861B-4DF5369F9DB3}"/>
          </ac:spMkLst>
        </pc:spChg>
      </pc:sldChg>
      <pc:sldMasterChg chg="modSldLayout">
        <pc:chgData name="Thissiany B Almeida" userId="2b0d818c48bee34c" providerId="LiveId" clId="{88AE5F53-512F-417B-8C32-381EFD7AE849}" dt="2024-01-16T04:14:53.829" v="24" actId="20577"/>
        <pc:sldMasterMkLst>
          <pc:docMk/>
          <pc:sldMasterMk cId="3805948064" sldId="2147483648"/>
        </pc:sldMasterMkLst>
        <pc:sldLayoutChg chg="modSp mod">
          <pc:chgData name="Thissiany B Almeida" userId="2b0d818c48bee34c" providerId="LiveId" clId="{88AE5F53-512F-417B-8C32-381EFD7AE849}" dt="2024-01-16T04:14:53.829" v="24" actId="20577"/>
          <pc:sldLayoutMkLst>
            <pc:docMk/>
            <pc:sldMasterMk cId="3805948064" sldId="2147483648"/>
            <pc:sldLayoutMk cId="861224368" sldId="2147483655"/>
          </pc:sldLayoutMkLst>
          <pc:spChg chg="mod">
            <ac:chgData name="Thissiany B Almeida" userId="2b0d818c48bee34c" providerId="LiveId" clId="{88AE5F53-512F-417B-8C32-381EFD7AE849}" dt="2024-01-16T04:14:53.829" v="24" actId="20577"/>
            <ac:spMkLst>
              <pc:docMk/>
              <pc:sldMasterMk cId="3805948064" sldId="2147483648"/>
              <pc:sldLayoutMk cId="861224368" sldId="2147483655"/>
              <ac:spMk id="5" creationId="{0BD6F037-CD77-6EA8-7C57-9649CDDF0811}"/>
            </ac:spMkLst>
          </pc:spChg>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514364-C96D-EB4A-04FE-B4C55B5BA63D}"/>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8E58A809-AB77-6283-A109-19DD566592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BB93AFB9-AE7A-D167-3A40-49836FC509EC}"/>
              </a:ext>
            </a:extLst>
          </p:cNvPr>
          <p:cNvSpPr>
            <a:spLocks noGrp="1"/>
          </p:cNvSpPr>
          <p:nvPr>
            <p:ph type="dt" sz="half" idx="10"/>
          </p:nvPr>
        </p:nvSpPr>
        <p:spPr/>
        <p:txBody>
          <a:bodyPr/>
          <a:lstStyle/>
          <a:p>
            <a:fld id="{5A968B77-C1D0-4C6B-BFDB-46BFA76E8EDB}" type="datetimeFigureOut">
              <a:rPr lang="pt-BR" smtClean="0"/>
              <a:t>22/04/2025</a:t>
            </a:fld>
            <a:endParaRPr lang="pt-BR"/>
          </a:p>
        </p:txBody>
      </p:sp>
      <p:sp>
        <p:nvSpPr>
          <p:cNvPr id="5" name="Espaço Reservado para Rodapé 4">
            <a:extLst>
              <a:ext uri="{FF2B5EF4-FFF2-40B4-BE49-F238E27FC236}">
                <a16:creationId xmlns:a16="http://schemas.microsoft.com/office/drawing/2014/main" id="{02378FB9-9DC9-C586-8E1F-D84099DC9471}"/>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E49D77A-44D0-2406-6516-045A6306C05A}"/>
              </a:ext>
            </a:extLst>
          </p:cNvPr>
          <p:cNvSpPr>
            <a:spLocks noGrp="1"/>
          </p:cNvSpPr>
          <p:nvPr>
            <p:ph type="sldNum" sz="quarter" idx="12"/>
          </p:nvPr>
        </p:nvSpPr>
        <p:spPr/>
        <p:txBody>
          <a:bodyPr/>
          <a:lstStyle/>
          <a:p>
            <a:fld id="{96A15464-5610-4F14-B589-1C5FE712A7EC}" type="slidenum">
              <a:rPr lang="pt-BR" smtClean="0"/>
              <a:t>‹nº›</a:t>
            </a:fld>
            <a:endParaRPr lang="pt-BR"/>
          </a:p>
        </p:txBody>
      </p:sp>
    </p:spTree>
    <p:extLst>
      <p:ext uri="{BB962C8B-B14F-4D97-AF65-F5344CB8AC3E}">
        <p14:creationId xmlns:p14="http://schemas.microsoft.com/office/powerpoint/2010/main" val="2253111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F9593306-1816-D130-8BC2-707A1E4D9EF9}"/>
              </a:ext>
            </a:extLst>
          </p:cNvPr>
          <p:cNvSpPr/>
          <p:nvPr userDrawn="1"/>
        </p:nvSpPr>
        <p:spPr>
          <a:xfrm>
            <a:off x="0" y="-20927"/>
            <a:ext cx="12192000" cy="13255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Título 1">
            <a:extLst>
              <a:ext uri="{FF2B5EF4-FFF2-40B4-BE49-F238E27FC236}">
                <a16:creationId xmlns:a16="http://schemas.microsoft.com/office/drawing/2014/main" id="{6B0AB38D-21B6-C4A8-55B8-F513C8A2731D}"/>
              </a:ext>
            </a:extLst>
          </p:cNvPr>
          <p:cNvSpPr>
            <a:spLocks noGrp="1"/>
          </p:cNvSpPr>
          <p:nvPr>
            <p:ph type="title"/>
          </p:nvPr>
        </p:nvSpPr>
        <p:spPr>
          <a:xfrm>
            <a:off x="0" y="0"/>
            <a:ext cx="12192000" cy="1325563"/>
          </a:xfrm>
        </p:spPr>
        <p:txBody>
          <a:bodyPr/>
          <a:lstStyle>
            <a:lvl1pPr algn="ctr">
              <a:defRPr b="1">
                <a:solidFill>
                  <a:schemeClr val="bg1"/>
                </a:solidFill>
                <a:latin typeface="Arial Black" panose="020B0A04020102020204" pitchFamily="34" charset="0"/>
              </a:defRPr>
            </a:lvl1pPr>
          </a:lstStyle>
          <a:p>
            <a:r>
              <a:rPr lang="pt-BR" dirty="0"/>
              <a:t>Clique para editar o título Mestre</a:t>
            </a:r>
          </a:p>
        </p:txBody>
      </p:sp>
      <p:sp>
        <p:nvSpPr>
          <p:cNvPr id="3" name="Espaço Reservado para Conteúdo 2">
            <a:extLst>
              <a:ext uri="{FF2B5EF4-FFF2-40B4-BE49-F238E27FC236}">
                <a16:creationId xmlns:a16="http://schemas.microsoft.com/office/drawing/2014/main" id="{2D1F5C84-0403-CBEB-143F-A1AC209228BC}"/>
              </a:ext>
            </a:extLst>
          </p:cNvPr>
          <p:cNvSpPr>
            <a:spLocks noGrp="1"/>
          </p:cNvSpPr>
          <p:nvPr>
            <p:ph idx="1"/>
          </p:nvPr>
        </p:nvSpPr>
        <p:spPr>
          <a:xfrm>
            <a:off x="0" y="1325563"/>
            <a:ext cx="12192000" cy="4890510"/>
          </a:xfrm>
          <a:solidFill>
            <a:schemeClr val="bg1"/>
          </a:solidFill>
          <a:ln>
            <a:solidFill>
              <a:srgbClr val="002060"/>
            </a:solidFill>
          </a:ln>
        </p:spPr>
        <p:txBody>
          <a:bodyPr/>
          <a:lstStyle>
            <a:lvl1pPr algn="just">
              <a:lnSpc>
                <a:spcPct val="150000"/>
              </a:lnSpc>
              <a:defRPr>
                <a:solidFill>
                  <a:schemeClr val="tx1"/>
                </a:solidFill>
              </a:defRPr>
            </a:lvl1pPr>
            <a:lvl2pPr algn="just">
              <a:lnSpc>
                <a:spcPct val="150000"/>
              </a:lnSpc>
              <a:defRPr>
                <a:solidFill>
                  <a:schemeClr val="tx1"/>
                </a:solidFill>
              </a:defRPr>
            </a:lvl2pPr>
            <a:lvl3pPr algn="just">
              <a:lnSpc>
                <a:spcPct val="150000"/>
              </a:lnSpc>
              <a:defRPr>
                <a:solidFill>
                  <a:schemeClr val="tx1"/>
                </a:solidFill>
              </a:defRPr>
            </a:lvl3pPr>
            <a:lvl4pPr algn="just">
              <a:lnSpc>
                <a:spcPct val="150000"/>
              </a:lnSpc>
              <a:defRPr>
                <a:solidFill>
                  <a:schemeClr val="tx1"/>
                </a:solidFill>
              </a:defRPr>
            </a:lvl4pPr>
            <a:lvl5pPr algn="just">
              <a:lnSpc>
                <a:spcPct val="150000"/>
              </a:lnSpc>
              <a:defRPr>
                <a:solidFill>
                  <a:schemeClr val="tx1"/>
                </a:solidFill>
              </a:defRPr>
            </a:lvl5pPr>
          </a:lstStyle>
          <a:p>
            <a:pPr lvl="0"/>
            <a:r>
              <a:rPr lang="pt-BR" dirty="0"/>
              <a:t>Clique para editar os estilos de texto Mestres</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4" name="Espaço Reservado para Data 3">
            <a:extLst>
              <a:ext uri="{FF2B5EF4-FFF2-40B4-BE49-F238E27FC236}">
                <a16:creationId xmlns:a16="http://schemas.microsoft.com/office/drawing/2014/main" id="{F4E87C16-F9FA-12A5-D193-293879CFEB0F}"/>
              </a:ext>
            </a:extLst>
          </p:cNvPr>
          <p:cNvSpPr>
            <a:spLocks noGrp="1"/>
          </p:cNvSpPr>
          <p:nvPr>
            <p:ph type="dt" sz="half" idx="10"/>
          </p:nvPr>
        </p:nvSpPr>
        <p:spPr/>
        <p:txBody>
          <a:bodyPr/>
          <a:lstStyle>
            <a:lvl1pPr>
              <a:defRPr b="1">
                <a:solidFill>
                  <a:schemeClr val="bg1"/>
                </a:solidFill>
              </a:defRPr>
            </a:lvl1pPr>
          </a:lstStyle>
          <a:p>
            <a:fld id="{19A69D0C-F727-4B55-9C09-49A516F26A72}" type="datetime1">
              <a:rPr lang="pt-BR" smtClean="0"/>
              <a:pPr/>
              <a:t>22/04/2025</a:t>
            </a:fld>
            <a:endParaRPr lang="pt-BR" dirty="0"/>
          </a:p>
        </p:txBody>
      </p:sp>
      <p:sp>
        <p:nvSpPr>
          <p:cNvPr id="5" name="Espaço Reservado para Rodapé 4">
            <a:extLst>
              <a:ext uri="{FF2B5EF4-FFF2-40B4-BE49-F238E27FC236}">
                <a16:creationId xmlns:a16="http://schemas.microsoft.com/office/drawing/2014/main" id="{1F1E754C-C07F-4295-85FF-1CBF45DD12AA}"/>
              </a:ext>
            </a:extLst>
          </p:cNvPr>
          <p:cNvSpPr>
            <a:spLocks noGrp="1"/>
          </p:cNvSpPr>
          <p:nvPr>
            <p:ph type="ftr" sz="quarter" idx="11"/>
          </p:nvPr>
        </p:nvSpPr>
        <p:spPr/>
        <p:txBody>
          <a:bodyPr/>
          <a:lstStyle>
            <a:lvl1pPr>
              <a:defRPr b="1">
                <a:solidFill>
                  <a:schemeClr val="bg1"/>
                </a:solidFill>
              </a:defRPr>
            </a:lvl1pPr>
          </a:lstStyle>
          <a:p>
            <a:r>
              <a:rPr lang="pt-BR" dirty="0"/>
              <a:t>Aprendizagem de Máquina – Profª Thissiany</a:t>
            </a:r>
          </a:p>
        </p:txBody>
      </p:sp>
      <p:sp>
        <p:nvSpPr>
          <p:cNvPr id="6" name="Espaço Reservado para Número de Slide 5">
            <a:extLst>
              <a:ext uri="{FF2B5EF4-FFF2-40B4-BE49-F238E27FC236}">
                <a16:creationId xmlns:a16="http://schemas.microsoft.com/office/drawing/2014/main" id="{3E8D0EEA-B168-807E-EAF5-BA6D33212406}"/>
              </a:ext>
            </a:extLst>
          </p:cNvPr>
          <p:cNvSpPr>
            <a:spLocks noGrp="1"/>
          </p:cNvSpPr>
          <p:nvPr>
            <p:ph type="sldNum" sz="quarter" idx="12"/>
          </p:nvPr>
        </p:nvSpPr>
        <p:spPr/>
        <p:txBody>
          <a:bodyPr/>
          <a:lstStyle>
            <a:lvl1pPr>
              <a:defRPr b="1">
                <a:solidFill>
                  <a:schemeClr val="bg1"/>
                </a:solidFill>
              </a:defRPr>
            </a:lvl1pPr>
          </a:lstStyle>
          <a:p>
            <a:fld id="{B5113011-A851-49D1-B6A9-76F1675FBDB1}" type="slidenum">
              <a:rPr lang="pt-BR" smtClean="0"/>
              <a:pPr/>
              <a:t>‹nº›</a:t>
            </a:fld>
            <a:endParaRPr lang="pt-BR" dirty="0"/>
          </a:p>
        </p:txBody>
      </p:sp>
    </p:spTree>
    <p:extLst>
      <p:ext uri="{BB962C8B-B14F-4D97-AF65-F5344CB8AC3E}">
        <p14:creationId xmlns:p14="http://schemas.microsoft.com/office/powerpoint/2010/main" val="339686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FAEB00-0296-7667-972F-1C26EF7FA0CA}"/>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0C3B1B3C-4595-4BE3-824D-52345DFFE6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AFCE2CC4-69F8-F902-4B44-4547AFCAD2FC}"/>
              </a:ext>
            </a:extLst>
          </p:cNvPr>
          <p:cNvSpPr>
            <a:spLocks noGrp="1"/>
          </p:cNvSpPr>
          <p:nvPr>
            <p:ph type="dt" sz="half" idx="10"/>
          </p:nvPr>
        </p:nvSpPr>
        <p:spPr/>
        <p:txBody>
          <a:bodyPr/>
          <a:lstStyle/>
          <a:p>
            <a:fld id="{5A968B77-C1D0-4C6B-BFDB-46BFA76E8EDB}" type="datetimeFigureOut">
              <a:rPr lang="pt-BR" smtClean="0"/>
              <a:t>22/04/2025</a:t>
            </a:fld>
            <a:endParaRPr lang="pt-BR"/>
          </a:p>
        </p:txBody>
      </p:sp>
      <p:sp>
        <p:nvSpPr>
          <p:cNvPr id="5" name="Espaço Reservado para Rodapé 4">
            <a:extLst>
              <a:ext uri="{FF2B5EF4-FFF2-40B4-BE49-F238E27FC236}">
                <a16:creationId xmlns:a16="http://schemas.microsoft.com/office/drawing/2014/main" id="{1032EE77-EEEB-3C98-FAC4-D2750C1072B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5056F5D8-437F-F400-A0FA-8C0B279406DD}"/>
              </a:ext>
            </a:extLst>
          </p:cNvPr>
          <p:cNvSpPr>
            <a:spLocks noGrp="1"/>
          </p:cNvSpPr>
          <p:nvPr>
            <p:ph type="sldNum" sz="quarter" idx="12"/>
          </p:nvPr>
        </p:nvSpPr>
        <p:spPr/>
        <p:txBody>
          <a:bodyPr/>
          <a:lstStyle/>
          <a:p>
            <a:fld id="{96A15464-5610-4F14-B589-1C5FE712A7EC}" type="slidenum">
              <a:rPr lang="pt-BR" smtClean="0"/>
              <a:t>‹nº›</a:t>
            </a:fld>
            <a:endParaRPr lang="pt-BR"/>
          </a:p>
        </p:txBody>
      </p:sp>
    </p:spTree>
    <p:extLst>
      <p:ext uri="{BB962C8B-B14F-4D97-AF65-F5344CB8AC3E}">
        <p14:creationId xmlns:p14="http://schemas.microsoft.com/office/powerpoint/2010/main" val="1422081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5AF7B3-4BF7-1624-BF78-FB79AAA35BD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6E0982C9-22EB-7BEB-8AE5-2D4C3BF1956B}"/>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A2FA29E7-D730-7504-4068-EDEF81F81790}"/>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B3CE6233-F035-E219-4562-F39BBC11A344}"/>
              </a:ext>
            </a:extLst>
          </p:cNvPr>
          <p:cNvSpPr>
            <a:spLocks noGrp="1"/>
          </p:cNvSpPr>
          <p:nvPr>
            <p:ph type="dt" sz="half" idx="10"/>
          </p:nvPr>
        </p:nvSpPr>
        <p:spPr/>
        <p:txBody>
          <a:bodyPr/>
          <a:lstStyle/>
          <a:p>
            <a:fld id="{5A968B77-C1D0-4C6B-BFDB-46BFA76E8EDB}" type="datetimeFigureOut">
              <a:rPr lang="pt-BR" smtClean="0"/>
              <a:t>22/04/2025</a:t>
            </a:fld>
            <a:endParaRPr lang="pt-BR"/>
          </a:p>
        </p:txBody>
      </p:sp>
      <p:sp>
        <p:nvSpPr>
          <p:cNvPr id="6" name="Espaço Reservado para Rodapé 5">
            <a:extLst>
              <a:ext uri="{FF2B5EF4-FFF2-40B4-BE49-F238E27FC236}">
                <a16:creationId xmlns:a16="http://schemas.microsoft.com/office/drawing/2014/main" id="{F26F89FB-A0F9-AE34-4762-CC5C927F764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8AF80BB3-939C-48BB-4750-343CFB56B4A3}"/>
              </a:ext>
            </a:extLst>
          </p:cNvPr>
          <p:cNvSpPr>
            <a:spLocks noGrp="1"/>
          </p:cNvSpPr>
          <p:nvPr>
            <p:ph type="sldNum" sz="quarter" idx="12"/>
          </p:nvPr>
        </p:nvSpPr>
        <p:spPr/>
        <p:txBody>
          <a:bodyPr/>
          <a:lstStyle/>
          <a:p>
            <a:fld id="{96A15464-5610-4F14-B589-1C5FE712A7EC}" type="slidenum">
              <a:rPr lang="pt-BR" smtClean="0"/>
              <a:t>‹nº›</a:t>
            </a:fld>
            <a:endParaRPr lang="pt-BR"/>
          </a:p>
        </p:txBody>
      </p:sp>
    </p:spTree>
    <p:extLst>
      <p:ext uri="{BB962C8B-B14F-4D97-AF65-F5344CB8AC3E}">
        <p14:creationId xmlns:p14="http://schemas.microsoft.com/office/powerpoint/2010/main" val="2245283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97A42C-E7D0-6537-6056-E17DF04DA173}"/>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2D3D9674-262B-40B8-CFC3-A158730A91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E5DAA0D6-D010-E997-407C-C97FA412845E}"/>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FB920166-918E-7400-9DEA-8921E6BBDB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F2516843-BFCD-AC16-F41E-91C9DCF32B79}"/>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0C9E100C-BA51-4FCB-0D7E-C70472797C10}"/>
              </a:ext>
            </a:extLst>
          </p:cNvPr>
          <p:cNvSpPr>
            <a:spLocks noGrp="1"/>
          </p:cNvSpPr>
          <p:nvPr>
            <p:ph type="dt" sz="half" idx="10"/>
          </p:nvPr>
        </p:nvSpPr>
        <p:spPr/>
        <p:txBody>
          <a:bodyPr/>
          <a:lstStyle/>
          <a:p>
            <a:fld id="{5A968B77-C1D0-4C6B-BFDB-46BFA76E8EDB}" type="datetimeFigureOut">
              <a:rPr lang="pt-BR" smtClean="0"/>
              <a:t>22/04/2025</a:t>
            </a:fld>
            <a:endParaRPr lang="pt-BR"/>
          </a:p>
        </p:txBody>
      </p:sp>
      <p:sp>
        <p:nvSpPr>
          <p:cNvPr id="8" name="Espaço Reservado para Rodapé 7">
            <a:extLst>
              <a:ext uri="{FF2B5EF4-FFF2-40B4-BE49-F238E27FC236}">
                <a16:creationId xmlns:a16="http://schemas.microsoft.com/office/drawing/2014/main" id="{0D3FF031-C2D2-66DC-844F-7E937F40D992}"/>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9057F4A3-6843-0454-5D51-A9E23459D820}"/>
              </a:ext>
            </a:extLst>
          </p:cNvPr>
          <p:cNvSpPr>
            <a:spLocks noGrp="1"/>
          </p:cNvSpPr>
          <p:nvPr>
            <p:ph type="sldNum" sz="quarter" idx="12"/>
          </p:nvPr>
        </p:nvSpPr>
        <p:spPr/>
        <p:txBody>
          <a:bodyPr/>
          <a:lstStyle/>
          <a:p>
            <a:fld id="{96A15464-5610-4F14-B589-1C5FE712A7EC}" type="slidenum">
              <a:rPr lang="pt-BR" smtClean="0"/>
              <a:t>‹nº›</a:t>
            </a:fld>
            <a:endParaRPr lang="pt-BR"/>
          </a:p>
        </p:txBody>
      </p:sp>
    </p:spTree>
    <p:extLst>
      <p:ext uri="{BB962C8B-B14F-4D97-AF65-F5344CB8AC3E}">
        <p14:creationId xmlns:p14="http://schemas.microsoft.com/office/powerpoint/2010/main" val="1718388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590083-EDB5-DEC6-5B19-92096D16B295}"/>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C5E1E07D-4445-F0C5-9DE4-7DDE5D02885E}"/>
              </a:ext>
            </a:extLst>
          </p:cNvPr>
          <p:cNvSpPr>
            <a:spLocks noGrp="1"/>
          </p:cNvSpPr>
          <p:nvPr>
            <p:ph type="dt" sz="half" idx="10"/>
          </p:nvPr>
        </p:nvSpPr>
        <p:spPr/>
        <p:txBody>
          <a:bodyPr/>
          <a:lstStyle/>
          <a:p>
            <a:fld id="{5A968B77-C1D0-4C6B-BFDB-46BFA76E8EDB}" type="datetimeFigureOut">
              <a:rPr lang="pt-BR" smtClean="0"/>
              <a:t>22/04/2025</a:t>
            </a:fld>
            <a:endParaRPr lang="pt-BR"/>
          </a:p>
        </p:txBody>
      </p:sp>
      <p:sp>
        <p:nvSpPr>
          <p:cNvPr id="4" name="Espaço Reservado para Rodapé 3">
            <a:extLst>
              <a:ext uri="{FF2B5EF4-FFF2-40B4-BE49-F238E27FC236}">
                <a16:creationId xmlns:a16="http://schemas.microsoft.com/office/drawing/2014/main" id="{E68DD7EE-7D4C-3643-FC33-F98F96F60DD1}"/>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45973FEB-DA46-1D68-D33E-20DDF82F019D}"/>
              </a:ext>
            </a:extLst>
          </p:cNvPr>
          <p:cNvSpPr>
            <a:spLocks noGrp="1"/>
          </p:cNvSpPr>
          <p:nvPr>
            <p:ph type="sldNum" sz="quarter" idx="12"/>
          </p:nvPr>
        </p:nvSpPr>
        <p:spPr/>
        <p:txBody>
          <a:bodyPr/>
          <a:lstStyle/>
          <a:p>
            <a:fld id="{96A15464-5610-4F14-B589-1C5FE712A7EC}" type="slidenum">
              <a:rPr lang="pt-BR" smtClean="0"/>
              <a:t>‹nº›</a:t>
            </a:fld>
            <a:endParaRPr lang="pt-BR"/>
          </a:p>
        </p:txBody>
      </p:sp>
    </p:spTree>
    <p:extLst>
      <p:ext uri="{BB962C8B-B14F-4D97-AF65-F5344CB8AC3E}">
        <p14:creationId xmlns:p14="http://schemas.microsoft.com/office/powerpoint/2010/main" val="1311835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pic>
        <p:nvPicPr>
          <p:cNvPr id="1026" name="Picture 2" descr="como funciona o aprendizado de máquina">
            <a:extLst>
              <a:ext uri="{FF2B5EF4-FFF2-40B4-BE49-F238E27FC236}">
                <a16:creationId xmlns:a16="http://schemas.microsoft.com/office/drawing/2014/main" id="{83902EC2-3775-C1C4-D27F-DFCAFCD22E72}"/>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0141"/>
          <a:stretch/>
        </p:blipFill>
        <p:spPr bwMode="auto">
          <a:xfrm>
            <a:off x="0" y="1"/>
            <a:ext cx="12192000" cy="5310908"/>
          </a:xfrm>
          <a:prstGeom prst="rect">
            <a:avLst/>
          </a:prstGeom>
          <a:noFill/>
          <a:extLst>
            <a:ext uri="{909E8E84-426E-40DD-AFC4-6F175D3DCCD1}">
              <a14:hiddenFill xmlns:a14="http://schemas.microsoft.com/office/drawing/2010/main">
                <a:solidFill>
                  <a:srgbClr val="FFFFFF"/>
                </a:solidFill>
              </a14:hiddenFill>
            </a:ext>
          </a:extLst>
        </p:spPr>
      </p:pic>
      <p:sp>
        <p:nvSpPr>
          <p:cNvPr id="5" name="Retângulo 4">
            <a:extLst>
              <a:ext uri="{FF2B5EF4-FFF2-40B4-BE49-F238E27FC236}">
                <a16:creationId xmlns:a16="http://schemas.microsoft.com/office/drawing/2014/main" id="{0BD6F037-CD77-6EA8-7C57-9649CDDF0811}"/>
              </a:ext>
            </a:extLst>
          </p:cNvPr>
          <p:cNvSpPr/>
          <p:nvPr userDrawn="1"/>
        </p:nvSpPr>
        <p:spPr>
          <a:xfrm>
            <a:off x="0" y="5310909"/>
            <a:ext cx="12192000" cy="15470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2800" b="1" dirty="0">
                <a:latin typeface="Arial Black" panose="020B0A04020102020204" pitchFamily="34" charset="0"/>
              </a:rPr>
              <a:t>AULA  07 – MODELOS PREDITIVOS – MÉTODOS CONEXIONISTAS</a:t>
            </a:r>
          </a:p>
        </p:txBody>
      </p:sp>
    </p:spTree>
    <p:extLst>
      <p:ext uri="{BB962C8B-B14F-4D97-AF65-F5344CB8AC3E}">
        <p14:creationId xmlns:p14="http://schemas.microsoft.com/office/powerpoint/2010/main" val="861224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FF459C-9778-D323-FC05-7DDAC20C24B7}"/>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2EC1123C-6BA0-A3C0-B926-0827A8031D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E156F62A-7E8A-7DEC-A5B8-6C7911A97C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4E41CE03-AE04-D5A3-C545-F5CB4C1866AC}"/>
              </a:ext>
            </a:extLst>
          </p:cNvPr>
          <p:cNvSpPr>
            <a:spLocks noGrp="1"/>
          </p:cNvSpPr>
          <p:nvPr>
            <p:ph type="dt" sz="half" idx="10"/>
          </p:nvPr>
        </p:nvSpPr>
        <p:spPr/>
        <p:txBody>
          <a:bodyPr/>
          <a:lstStyle/>
          <a:p>
            <a:fld id="{5A968B77-C1D0-4C6B-BFDB-46BFA76E8EDB}" type="datetimeFigureOut">
              <a:rPr lang="pt-BR" smtClean="0"/>
              <a:t>22/04/2025</a:t>
            </a:fld>
            <a:endParaRPr lang="pt-BR"/>
          </a:p>
        </p:txBody>
      </p:sp>
      <p:sp>
        <p:nvSpPr>
          <p:cNvPr id="6" name="Espaço Reservado para Rodapé 5">
            <a:extLst>
              <a:ext uri="{FF2B5EF4-FFF2-40B4-BE49-F238E27FC236}">
                <a16:creationId xmlns:a16="http://schemas.microsoft.com/office/drawing/2014/main" id="{B708CCF8-9EB9-A34C-6AA5-35AF3F55528E}"/>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E66BA109-6C01-5D1A-5B28-289A41E6BA39}"/>
              </a:ext>
            </a:extLst>
          </p:cNvPr>
          <p:cNvSpPr>
            <a:spLocks noGrp="1"/>
          </p:cNvSpPr>
          <p:nvPr>
            <p:ph type="sldNum" sz="quarter" idx="12"/>
          </p:nvPr>
        </p:nvSpPr>
        <p:spPr/>
        <p:txBody>
          <a:bodyPr/>
          <a:lstStyle/>
          <a:p>
            <a:fld id="{96A15464-5610-4F14-B589-1C5FE712A7EC}" type="slidenum">
              <a:rPr lang="pt-BR" smtClean="0"/>
              <a:t>‹nº›</a:t>
            </a:fld>
            <a:endParaRPr lang="pt-BR"/>
          </a:p>
        </p:txBody>
      </p:sp>
    </p:spTree>
    <p:extLst>
      <p:ext uri="{BB962C8B-B14F-4D97-AF65-F5344CB8AC3E}">
        <p14:creationId xmlns:p14="http://schemas.microsoft.com/office/powerpoint/2010/main" val="1483169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7F175A-BDDE-DBA0-F047-28FFFE3ADC1A}"/>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B2937C26-8F17-D25B-A5C7-080AC5CC70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5079DEDA-2F1C-C098-24AA-BBC6776F83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2E66B937-2D0D-C8C5-50FE-A822E206A0C4}"/>
              </a:ext>
            </a:extLst>
          </p:cNvPr>
          <p:cNvSpPr>
            <a:spLocks noGrp="1"/>
          </p:cNvSpPr>
          <p:nvPr>
            <p:ph type="dt" sz="half" idx="10"/>
          </p:nvPr>
        </p:nvSpPr>
        <p:spPr/>
        <p:txBody>
          <a:bodyPr/>
          <a:lstStyle/>
          <a:p>
            <a:fld id="{5A968B77-C1D0-4C6B-BFDB-46BFA76E8EDB}" type="datetimeFigureOut">
              <a:rPr lang="pt-BR" smtClean="0"/>
              <a:t>22/04/2025</a:t>
            </a:fld>
            <a:endParaRPr lang="pt-BR"/>
          </a:p>
        </p:txBody>
      </p:sp>
      <p:sp>
        <p:nvSpPr>
          <p:cNvPr id="6" name="Espaço Reservado para Rodapé 5">
            <a:extLst>
              <a:ext uri="{FF2B5EF4-FFF2-40B4-BE49-F238E27FC236}">
                <a16:creationId xmlns:a16="http://schemas.microsoft.com/office/drawing/2014/main" id="{8BB22AA3-71B8-BF59-1441-CE33D1B47275}"/>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1AFE7A15-9949-3D73-6165-C34A6049B1D2}"/>
              </a:ext>
            </a:extLst>
          </p:cNvPr>
          <p:cNvSpPr>
            <a:spLocks noGrp="1"/>
          </p:cNvSpPr>
          <p:nvPr>
            <p:ph type="sldNum" sz="quarter" idx="12"/>
          </p:nvPr>
        </p:nvSpPr>
        <p:spPr/>
        <p:txBody>
          <a:bodyPr/>
          <a:lstStyle/>
          <a:p>
            <a:fld id="{96A15464-5610-4F14-B589-1C5FE712A7EC}" type="slidenum">
              <a:rPr lang="pt-BR" smtClean="0"/>
              <a:t>‹nº›</a:t>
            </a:fld>
            <a:endParaRPr lang="pt-BR"/>
          </a:p>
        </p:txBody>
      </p:sp>
    </p:spTree>
    <p:extLst>
      <p:ext uri="{BB962C8B-B14F-4D97-AF65-F5344CB8AC3E}">
        <p14:creationId xmlns:p14="http://schemas.microsoft.com/office/powerpoint/2010/main" val="3364115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B8909D-D822-2FC2-F4CF-0C3F7A15606D}"/>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A1C37F36-CEF6-6EB7-86B9-6DD9A0ABE4C5}"/>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17C3C92-07A3-D4BA-44C1-B4705A5E7534}"/>
              </a:ext>
            </a:extLst>
          </p:cNvPr>
          <p:cNvSpPr>
            <a:spLocks noGrp="1"/>
          </p:cNvSpPr>
          <p:nvPr>
            <p:ph type="dt" sz="half" idx="10"/>
          </p:nvPr>
        </p:nvSpPr>
        <p:spPr/>
        <p:txBody>
          <a:bodyPr/>
          <a:lstStyle/>
          <a:p>
            <a:fld id="{5A968B77-C1D0-4C6B-BFDB-46BFA76E8EDB}" type="datetimeFigureOut">
              <a:rPr lang="pt-BR" smtClean="0"/>
              <a:t>22/04/2025</a:t>
            </a:fld>
            <a:endParaRPr lang="pt-BR"/>
          </a:p>
        </p:txBody>
      </p:sp>
      <p:sp>
        <p:nvSpPr>
          <p:cNvPr id="5" name="Espaço Reservado para Rodapé 4">
            <a:extLst>
              <a:ext uri="{FF2B5EF4-FFF2-40B4-BE49-F238E27FC236}">
                <a16:creationId xmlns:a16="http://schemas.microsoft.com/office/drawing/2014/main" id="{5A9D1EB1-2812-FF66-7AB5-644DCA14F605}"/>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E562CD5-44AA-9F6C-2CE3-E50C8E34A917}"/>
              </a:ext>
            </a:extLst>
          </p:cNvPr>
          <p:cNvSpPr>
            <a:spLocks noGrp="1"/>
          </p:cNvSpPr>
          <p:nvPr>
            <p:ph type="sldNum" sz="quarter" idx="12"/>
          </p:nvPr>
        </p:nvSpPr>
        <p:spPr/>
        <p:txBody>
          <a:bodyPr/>
          <a:lstStyle/>
          <a:p>
            <a:fld id="{96A15464-5610-4F14-B589-1C5FE712A7EC}" type="slidenum">
              <a:rPr lang="pt-BR" smtClean="0"/>
              <a:t>‹nº›</a:t>
            </a:fld>
            <a:endParaRPr lang="pt-BR"/>
          </a:p>
        </p:txBody>
      </p:sp>
    </p:spTree>
    <p:extLst>
      <p:ext uri="{BB962C8B-B14F-4D97-AF65-F5344CB8AC3E}">
        <p14:creationId xmlns:p14="http://schemas.microsoft.com/office/powerpoint/2010/main" val="1270170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7166A74-E6F6-8D77-EC19-1651E3674BA9}"/>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D214F839-8B96-3AEF-F01C-D70AA24502EA}"/>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5808C561-B91A-A29C-2ED9-7A8B82A1E844}"/>
              </a:ext>
            </a:extLst>
          </p:cNvPr>
          <p:cNvSpPr>
            <a:spLocks noGrp="1"/>
          </p:cNvSpPr>
          <p:nvPr>
            <p:ph type="dt" sz="half" idx="10"/>
          </p:nvPr>
        </p:nvSpPr>
        <p:spPr/>
        <p:txBody>
          <a:bodyPr/>
          <a:lstStyle/>
          <a:p>
            <a:fld id="{5A968B77-C1D0-4C6B-BFDB-46BFA76E8EDB}" type="datetimeFigureOut">
              <a:rPr lang="pt-BR" smtClean="0"/>
              <a:t>22/04/2025</a:t>
            </a:fld>
            <a:endParaRPr lang="pt-BR"/>
          </a:p>
        </p:txBody>
      </p:sp>
      <p:sp>
        <p:nvSpPr>
          <p:cNvPr id="5" name="Espaço Reservado para Rodapé 4">
            <a:extLst>
              <a:ext uri="{FF2B5EF4-FFF2-40B4-BE49-F238E27FC236}">
                <a16:creationId xmlns:a16="http://schemas.microsoft.com/office/drawing/2014/main" id="{558C3BAE-9926-FF6C-A124-E565FA10FB9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21547A14-A8DF-06D6-4CC0-B9CE898EB1CC}"/>
              </a:ext>
            </a:extLst>
          </p:cNvPr>
          <p:cNvSpPr>
            <a:spLocks noGrp="1"/>
          </p:cNvSpPr>
          <p:nvPr>
            <p:ph type="sldNum" sz="quarter" idx="12"/>
          </p:nvPr>
        </p:nvSpPr>
        <p:spPr/>
        <p:txBody>
          <a:bodyPr/>
          <a:lstStyle/>
          <a:p>
            <a:fld id="{96A15464-5610-4F14-B589-1C5FE712A7EC}" type="slidenum">
              <a:rPr lang="pt-BR" smtClean="0"/>
              <a:t>‹nº›</a:t>
            </a:fld>
            <a:endParaRPr lang="pt-BR"/>
          </a:p>
        </p:txBody>
      </p:sp>
    </p:spTree>
    <p:extLst>
      <p:ext uri="{BB962C8B-B14F-4D97-AF65-F5344CB8AC3E}">
        <p14:creationId xmlns:p14="http://schemas.microsoft.com/office/powerpoint/2010/main" val="556160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39A1FF"/>
        </a:solidFill>
        <a:effectLst/>
      </p:bgPr>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5FEA02B9-6783-EE81-0CF8-1E2D578230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77874482-D174-ED93-04E6-605A09A77C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30815CC-75B6-A043-9270-6C2B353358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968B77-C1D0-4C6B-BFDB-46BFA76E8EDB}" type="datetimeFigureOut">
              <a:rPr lang="pt-BR" smtClean="0"/>
              <a:t>22/04/2025</a:t>
            </a:fld>
            <a:endParaRPr lang="pt-BR"/>
          </a:p>
        </p:txBody>
      </p:sp>
      <p:sp>
        <p:nvSpPr>
          <p:cNvPr id="5" name="Espaço Reservado para Rodapé 4">
            <a:extLst>
              <a:ext uri="{FF2B5EF4-FFF2-40B4-BE49-F238E27FC236}">
                <a16:creationId xmlns:a16="http://schemas.microsoft.com/office/drawing/2014/main" id="{47F434D6-98DA-D3DA-7F8D-A08C79D335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3ECA320B-DEAF-44E7-E5D4-07FEB4F677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A15464-5610-4F14-B589-1C5FE712A7EC}" type="slidenum">
              <a:rPr lang="pt-BR" smtClean="0"/>
              <a:t>‹nº›</a:t>
            </a:fld>
            <a:endParaRPr lang="pt-BR"/>
          </a:p>
        </p:txBody>
      </p:sp>
    </p:spTree>
    <p:extLst>
      <p:ext uri="{BB962C8B-B14F-4D97-AF65-F5344CB8AC3E}">
        <p14:creationId xmlns:p14="http://schemas.microsoft.com/office/powerpoint/2010/main" val="3805948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2809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D4C30C-018A-05B9-B28B-5F07ADE6BD51}"/>
              </a:ext>
            </a:extLst>
          </p:cNvPr>
          <p:cNvSpPr>
            <a:spLocks noGrp="1"/>
          </p:cNvSpPr>
          <p:nvPr>
            <p:ph type="title"/>
          </p:nvPr>
        </p:nvSpPr>
        <p:spPr/>
        <p:txBody>
          <a:bodyPr/>
          <a:lstStyle/>
          <a:p>
            <a:r>
              <a:rPr lang="pt-BR" dirty="0"/>
              <a:t>ROTEIRO</a:t>
            </a:r>
          </a:p>
        </p:txBody>
      </p:sp>
      <p:sp>
        <p:nvSpPr>
          <p:cNvPr id="3" name="Espaço Reservado para Conteúdo 2">
            <a:extLst>
              <a:ext uri="{FF2B5EF4-FFF2-40B4-BE49-F238E27FC236}">
                <a16:creationId xmlns:a16="http://schemas.microsoft.com/office/drawing/2014/main" id="{2AC7E88A-5AE9-46E6-861B-4DF5369F9DB3}"/>
              </a:ext>
            </a:extLst>
          </p:cNvPr>
          <p:cNvSpPr>
            <a:spLocks noGrp="1"/>
          </p:cNvSpPr>
          <p:nvPr>
            <p:ph idx="1"/>
          </p:nvPr>
        </p:nvSpPr>
        <p:spPr/>
        <p:txBody>
          <a:bodyPr/>
          <a:lstStyle/>
          <a:p>
            <a:r>
              <a:rPr lang="pt-BR" dirty="0"/>
              <a:t>APRENDIZAGEM SUPERVISIONADA</a:t>
            </a:r>
          </a:p>
          <a:p>
            <a:r>
              <a:rPr lang="pt-BR" dirty="0"/>
              <a:t>MÉTODOS CONEXIONISTAS</a:t>
            </a:r>
          </a:p>
          <a:p>
            <a:pPr lvl="1"/>
            <a:r>
              <a:rPr lang="pt-BR" dirty="0"/>
              <a:t>RNA</a:t>
            </a:r>
          </a:p>
          <a:p>
            <a:pPr lvl="1"/>
            <a:r>
              <a:rPr lang="pt-BR" dirty="0"/>
              <a:t>PERCEPTRON</a:t>
            </a:r>
          </a:p>
          <a:p>
            <a:pPr lvl="1"/>
            <a:r>
              <a:rPr lang="pt-BR" dirty="0"/>
              <a:t>MLP</a:t>
            </a:r>
          </a:p>
          <a:p>
            <a:pPr lvl="1"/>
            <a:r>
              <a:rPr lang="pt-BR" dirty="0"/>
              <a:t>DEEP LEARNING</a:t>
            </a:r>
          </a:p>
          <a:p>
            <a:r>
              <a:rPr lang="pt-BR" dirty="0"/>
              <a:t>APLICAÇÃO PRÁTICA</a:t>
            </a:r>
          </a:p>
        </p:txBody>
      </p:sp>
      <p:pic>
        <p:nvPicPr>
          <p:cNvPr id="4" name="Imagem 3">
            <a:extLst>
              <a:ext uri="{FF2B5EF4-FFF2-40B4-BE49-F238E27FC236}">
                <a16:creationId xmlns:a16="http://schemas.microsoft.com/office/drawing/2014/main" id="{89633A1A-771D-6032-D37D-118D054E4E03}"/>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40000"/>
                    </a14:imgEffect>
                  </a14:imgLayer>
                </a14:imgProps>
              </a:ext>
            </a:extLst>
          </a:blip>
          <a:srcRect l="15919" t="20157" r="17815" b="14494"/>
          <a:stretch/>
        </p:blipFill>
        <p:spPr>
          <a:xfrm>
            <a:off x="7578224" y="2017175"/>
            <a:ext cx="4613776" cy="3835040"/>
          </a:xfrm>
          <a:prstGeom prst="rect">
            <a:avLst/>
          </a:prstGeom>
        </p:spPr>
      </p:pic>
    </p:spTree>
    <p:extLst>
      <p:ext uri="{BB962C8B-B14F-4D97-AF65-F5344CB8AC3E}">
        <p14:creationId xmlns:p14="http://schemas.microsoft.com/office/powerpoint/2010/main" val="499882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55034-7D89-56ED-8803-81CBAA7EBFE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2637365-531B-7698-3811-47932301FA36}"/>
              </a:ext>
            </a:extLst>
          </p:cNvPr>
          <p:cNvSpPr>
            <a:spLocks noGrp="1"/>
          </p:cNvSpPr>
          <p:nvPr>
            <p:ph type="title"/>
          </p:nvPr>
        </p:nvSpPr>
        <p:spPr/>
        <p:txBody>
          <a:bodyPr/>
          <a:lstStyle/>
          <a:p>
            <a:r>
              <a:rPr lang="pt-BR" dirty="0"/>
              <a:t>INTRODUÇÃO</a:t>
            </a:r>
          </a:p>
        </p:txBody>
      </p:sp>
      <p:sp>
        <p:nvSpPr>
          <p:cNvPr id="3" name="Espaço Reservado para Conteúdo 2">
            <a:extLst>
              <a:ext uri="{FF2B5EF4-FFF2-40B4-BE49-F238E27FC236}">
                <a16:creationId xmlns:a16="http://schemas.microsoft.com/office/drawing/2014/main" id="{C31AC6D4-F23F-4F31-7356-AAD83949AB82}"/>
              </a:ext>
            </a:extLst>
          </p:cNvPr>
          <p:cNvSpPr>
            <a:spLocks noGrp="1"/>
          </p:cNvSpPr>
          <p:nvPr>
            <p:ph idx="1"/>
          </p:nvPr>
        </p:nvSpPr>
        <p:spPr/>
        <p:txBody>
          <a:bodyPr>
            <a:normAutofit/>
          </a:bodyPr>
          <a:lstStyle/>
          <a:p>
            <a:pPr>
              <a:lnSpc>
                <a:spcPct val="160000"/>
              </a:lnSpc>
            </a:pPr>
            <a:r>
              <a:rPr lang="pt-BR" sz="3200" dirty="0"/>
              <a:t>O cérebro humano é considerado o mais fascinante processador baseado em carbono existente, sendo composto por bilhões de neurônios. </a:t>
            </a:r>
          </a:p>
          <a:p>
            <a:pPr>
              <a:lnSpc>
                <a:spcPct val="160000"/>
              </a:lnSpc>
            </a:pPr>
            <a:r>
              <a:rPr lang="pt-BR" sz="3200" dirty="0"/>
              <a:t>Todas as funções e movimentos do organismo estão relacionados ao funcionamento destas pequenas células.</a:t>
            </a:r>
          </a:p>
          <a:p>
            <a:endParaRPr lang="pt-BR" dirty="0"/>
          </a:p>
        </p:txBody>
      </p:sp>
    </p:spTree>
    <p:extLst>
      <p:ext uri="{BB962C8B-B14F-4D97-AF65-F5344CB8AC3E}">
        <p14:creationId xmlns:p14="http://schemas.microsoft.com/office/powerpoint/2010/main" val="4140157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35B24-8015-59EF-1BFD-FEFF92DB3BE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6957577-A416-8A6F-2940-16329CB18CA5}"/>
              </a:ext>
            </a:extLst>
          </p:cNvPr>
          <p:cNvSpPr>
            <a:spLocks noGrp="1"/>
          </p:cNvSpPr>
          <p:nvPr>
            <p:ph type="title"/>
          </p:nvPr>
        </p:nvSpPr>
        <p:spPr/>
        <p:txBody>
          <a:bodyPr/>
          <a:lstStyle/>
          <a:p>
            <a:r>
              <a:rPr lang="pt-BR" dirty="0"/>
              <a:t>INTRODUÇÃO</a:t>
            </a:r>
          </a:p>
        </p:txBody>
      </p:sp>
      <p:sp>
        <p:nvSpPr>
          <p:cNvPr id="3" name="Espaço Reservado para Conteúdo 2">
            <a:extLst>
              <a:ext uri="{FF2B5EF4-FFF2-40B4-BE49-F238E27FC236}">
                <a16:creationId xmlns:a16="http://schemas.microsoft.com/office/drawing/2014/main" id="{B63FAD4A-8598-A7A8-22C5-7ED345D4429E}"/>
              </a:ext>
            </a:extLst>
          </p:cNvPr>
          <p:cNvSpPr>
            <a:spLocks noGrp="1"/>
          </p:cNvSpPr>
          <p:nvPr>
            <p:ph idx="1"/>
          </p:nvPr>
        </p:nvSpPr>
        <p:spPr/>
        <p:txBody>
          <a:bodyPr>
            <a:normAutofit fontScale="92500" lnSpcReduction="10000"/>
          </a:bodyPr>
          <a:lstStyle/>
          <a:p>
            <a:pPr>
              <a:lnSpc>
                <a:spcPct val="160000"/>
              </a:lnSpc>
            </a:pPr>
            <a:r>
              <a:rPr lang="pt-BR" sz="3200" dirty="0"/>
              <a:t>Cérebro humano: Processador Ideal</a:t>
            </a:r>
          </a:p>
          <a:p>
            <a:pPr>
              <a:lnSpc>
                <a:spcPct val="160000"/>
              </a:lnSpc>
            </a:pPr>
            <a:endParaRPr lang="pt-BR" sz="3200" dirty="0"/>
          </a:p>
          <a:p>
            <a:pPr>
              <a:lnSpc>
                <a:spcPct val="160000"/>
              </a:lnSpc>
            </a:pPr>
            <a:endParaRPr lang="pt-BR" sz="3200" dirty="0"/>
          </a:p>
          <a:p>
            <a:pPr>
              <a:lnSpc>
                <a:spcPct val="160000"/>
              </a:lnSpc>
            </a:pPr>
            <a:endParaRPr lang="pt-BR" sz="3200" dirty="0"/>
          </a:p>
          <a:p>
            <a:pPr>
              <a:lnSpc>
                <a:spcPct val="160000"/>
              </a:lnSpc>
            </a:pPr>
            <a:r>
              <a:rPr lang="pt-BR" sz="3200" dirty="0"/>
              <a:t>Maior órgão do sistema nervoso humano. Possui de 10 a 100 bilhões de células nervosas.</a:t>
            </a:r>
            <a:endParaRPr lang="pt-BR" dirty="0"/>
          </a:p>
        </p:txBody>
      </p:sp>
      <p:pic>
        <p:nvPicPr>
          <p:cNvPr id="5" name="Imagem 4">
            <a:extLst>
              <a:ext uri="{FF2B5EF4-FFF2-40B4-BE49-F238E27FC236}">
                <a16:creationId xmlns:a16="http://schemas.microsoft.com/office/drawing/2014/main" id="{18FD3B39-823A-DB3D-909E-47ADA62B1FFB}"/>
              </a:ext>
            </a:extLst>
          </p:cNvPr>
          <p:cNvPicPr>
            <a:picLocks noChangeAspect="1"/>
          </p:cNvPicPr>
          <p:nvPr/>
        </p:nvPicPr>
        <p:blipFill>
          <a:blip r:embed="rId2"/>
          <a:stretch>
            <a:fillRect/>
          </a:stretch>
        </p:blipFill>
        <p:spPr>
          <a:xfrm>
            <a:off x="2790916" y="2249592"/>
            <a:ext cx="6610168" cy="2358816"/>
          </a:xfrm>
          <a:prstGeom prst="rect">
            <a:avLst/>
          </a:prstGeom>
        </p:spPr>
      </p:pic>
    </p:spTree>
    <p:extLst>
      <p:ext uri="{BB962C8B-B14F-4D97-AF65-F5344CB8AC3E}">
        <p14:creationId xmlns:p14="http://schemas.microsoft.com/office/powerpoint/2010/main" val="412375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C8591-6DB7-0C87-82FB-196E4D900DE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9DD1929-38F9-4D7C-DD10-1F8C4F769402}"/>
              </a:ext>
            </a:extLst>
          </p:cNvPr>
          <p:cNvSpPr>
            <a:spLocks noGrp="1"/>
          </p:cNvSpPr>
          <p:nvPr>
            <p:ph type="title"/>
          </p:nvPr>
        </p:nvSpPr>
        <p:spPr/>
        <p:txBody>
          <a:bodyPr/>
          <a:lstStyle/>
          <a:p>
            <a:r>
              <a:rPr lang="pt-BR" dirty="0"/>
              <a:t>INTRODUÇÃO</a:t>
            </a:r>
          </a:p>
        </p:txBody>
      </p:sp>
      <p:sp>
        <p:nvSpPr>
          <p:cNvPr id="3" name="Espaço Reservado para Conteúdo 2">
            <a:extLst>
              <a:ext uri="{FF2B5EF4-FFF2-40B4-BE49-F238E27FC236}">
                <a16:creationId xmlns:a16="http://schemas.microsoft.com/office/drawing/2014/main" id="{007374A3-1541-3D0F-18C3-30C8038D0A97}"/>
              </a:ext>
            </a:extLst>
          </p:cNvPr>
          <p:cNvSpPr>
            <a:spLocks noGrp="1"/>
          </p:cNvSpPr>
          <p:nvPr>
            <p:ph idx="1"/>
          </p:nvPr>
        </p:nvSpPr>
        <p:spPr/>
        <p:txBody>
          <a:bodyPr>
            <a:normAutofit/>
          </a:bodyPr>
          <a:lstStyle/>
          <a:p>
            <a:pPr>
              <a:lnSpc>
                <a:spcPct val="160000"/>
              </a:lnSpc>
            </a:pPr>
            <a:r>
              <a:rPr lang="pt-BR" sz="3000" dirty="0"/>
              <a:t>Os neurônios estão conectados uns aos outros através de sinapses, e juntos formam uma grande rede, chamada REDE NEURAL. Esta grande rede proporciona uma fabulosa capacidade de processamento e armazenamento de informação.</a:t>
            </a:r>
          </a:p>
        </p:txBody>
      </p:sp>
      <p:pic>
        <p:nvPicPr>
          <p:cNvPr id="5" name="Imagem 4">
            <a:extLst>
              <a:ext uri="{FF2B5EF4-FFF2-40B4-BE49-F238E27FC236}">
                <a16:creationId xmlns:a16="http://schemas.microsoft.com/office/drawing/2014/main" id="{F8754F5D-62FD-11A7-C2AE-342881052FB0}"/>
              </a:ext>
            </a:extLst>
          </p:cNvPr>
          <p:cNvPicPr>
            <a:picLocks noChangeAspect="1"/>
          </p:cNvPicPr>
          <p:nvPr/>
        </p:nvPicPr>
        <p:blipFill>
          <a:blip r:embed="rId2"/>
          <a:stretch>
            <a:fillRect/>
          </a:stretch>
        </p:blipFill>
        <p:spPr>
          <a:xfrm>
            <a:off x="4100598" y="3770818"/>
            <a:ext cx="3990804" cy="2413950"/>
          </a:xfrm>
          <a:prstGeom prst="rect">
            <a:avLst/>
          </a:prstGeom>
        </p:spPr>
      </p:pic>
    </p:spTree>
    <p:extLst>
      <p:ext uri="{BB962C8B-B14F-4D97-AF65-F5344CB8AC3E}">
        <p14:creationId xmlns:p14="http://schemas.microsoft.com/office/powerpoint/2010/main" val="2090207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B9066-0372-5CB5-030E-ED017443C76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32C1FF2-660B-0EE4-3DEC-4D918BA10A0E}"/>
              </a:ext>
            </a:extLst>
          </p:cNvPr>
          <p:cNvSpPr>
            <a:spLocks noGrp="1"/>
          </p:cNvSpPr>
          <p:nvPr>
            <p:ph type="title"/>
          </p:nvPr>
        </p:nvSpPr>
        <p:spPr/>
        <p:txBody>
          <a:bodyPr/>
          <a:lstStyle/>
          <a:p>
            <a:r>
              <a:rPr lang="pt-BR" dirty="0"/>
              <a:t>INTRODUÇÃO</a:t>
            </a:r>
          </a:p>
        </p:txBody>
      </p:sp>
      <p:sp>
        <p:nvSpPr>
          <p:cNvPr id="3" name="Espaço Reservado para Conteúdo 2">
            <a:extLst>
              <a:ext uri="{FF2B5EF4-FFF2-40B4-BE49-F238E27FC236}">
                <a16:creationId xmlns:a16="http://schemas.microsoft.com/office/drawing/2014/main" id="{BC0C30AA-9066-4DED-0EAA-CB595EACB0FD}"/>
              </a:ext>
            </a:extLst>
          </p:cNvPr>
          <p:cNvSpPr>
            <a:spLocks noGrp="1"/>
          </p:cNvSpPr>
          <p:nvPr>
            <p:ph idx="1"/>
          </p:nvPr>
        </p:nvSpPr>
        <p:spPr/>
        <p:txBody>
          <a:bodyPr>
            <a:normAutofit/>
          </a:bodyPr>
          <a:lstStyle/>
          <a:p>
            <a:pPr>
              <a:lnSpc>
                <a:spcPct val="160000"/>
              </a:lnSpc>
            </a:pPr>
            <a:r>
              <a:rPr lang="pt-BR" sz="3000" b="1" dirty="0"/>
              <a:t>Neurônio: </a:t>
            </a:r>
            <a:r>
              <a:rPr lang="pt-BR" sz="3000" dirty="0"/>
              <a:t>é a célula do sistema nervoso responsável pela condução do impulso nervoso. O neurônio é constituído pelas seguintes partes: corpo celular (onde se encontra o núcleo celular), dendritos, axônio e </a:t>
            </a:r>
            <a:r>
              <a:rPr lang="pt-BR" sz="3000" dirty="0" err="1"/>
              <a:t>telodendro</a:t>
            </a:r>
            <a:r>
              <a:rPr lang="pt-BR" sz="3000" dirty="0"/>
              <a:t>.</a:t>
            </a:r>
          </a:p>
          <a:p>
            <a:pPr>
              <a:lnSpc>
                <a:spcPct val="160000"/>
              </a:lnSpc>
            </a:pPr>
            <a:r>
              <a:rPr lang="pt-BR" sz="3000" b="1" dirty="0"/>
              <a:t>Dendritos: </a:t>
            </a:r>
            <a:r>
              <a:rPr lang="pt-BR" sz="3000" dirty="0"/>
              <a:t>são prolongamentos numerosos dos neurônios especializados na recepção de estímulos nervosos, que podem ser do meio ambiente ou de outros neurônios.</a:t>
            </a:r>
            <a:endParaRPr lang="pt-BR" sz="3000" b="1" dirty="0"/>
          </a:p>
        </p:txBody>
      </p:sp>
    </p:spTree>
    <p:extLst>
      <p:ext uri="{BB962C8B-B14F-4D97-AF65-F5344CB8AC3E}">
        <p14:creationId xmlns:p14="http://schemas.microsoft.com/office/powerpoint/2010/main" val="32302805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61BFB-AB14-EE0C-9860-6A56847B9E0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79F0125-39E5-4014-8921-E593830E7B99}"/>
              </a:ext>
            </a:extLst>
          </p:cNvPr>
          <p:cNvSpPr>
            <a:spLocks noGrp="1"/>
          </p:cNvSpPr>
          <p:nvPr>
            <p:ph type="title"/>
          </p:nvPr>
        </p:nvSpPr>
        <p:spPr/>
        <p:txBody>
          <a:bodyPr/>
          <a:lstStyle/>
          <a:p>
            <a:r>
              <a:rPr lang="pt-BR" dirty="0"/>
              <a:t>INTRODUÇÃO</a:t>
            </a:r>
          </a:p>
        </p:txBody>
      </p:sp>
      <p:sp>
        <p:nvSpPr>
          <p:cNvPr id="3" name="Espaço Reservado para Conteúdo 2">
            <a:extLst>
              <a:ext uri="{FF2B5EF4-FFF2-40B4-BE49-F238E27FC236}">
                <a16:creationId xmlns:a16="http://schemas.microsoft.com/office/drawing/2014/main" id="{E1C661CE-A276-604A-6BD6-27765411AB9A}"/>
              </a:ext>
            </a:extLst>
          </p:cNvPr>
          <p:cNvSpPr>
            <a:spLocks noGrp="1"/>
          </p:cNvSpPr>
          <p:nvPr>
            <p:ph idx="1"/>
          </p:nvPr>
        </p:nvSpPr>
        <p:spPr/>
        <p:txBody>
          <a:bodyPr>
            <a:normAutofit/>
          </a:bodyPr>
          <a:lstStyle/>
          <a:p>
            <a:pPr>
              <a:lnSpc>
                <a:spcPct val="160000"/>
              </a:lnSpc>
            </a:pPr>
            <a:r>
              <a:rPr lang="pt-BR" sz="3000" b="1" dirty="0"/>
              <a:t>Axônio: </a:t>
            </a:r>
            <a:r>
              <a:rPr lang="pt-BR" sz="3000" dirty="0"/>
              <a:t>é o prolongamento dos neurônios responsável pela condução dos impulsos elétricos que partem do corpo celular, até outro local mais distante, como um músculo ou outro neurônio. Alguns axônios de neurônios de um humano adulto podem chegar a mais de um metro de comprimento. </a:t>
            </a:r>
            <a:endParaRPr lang="pt-BR" sz="3000" b="1" dirty="0"/>
          </a:p>
        </p:txBody>
      </p:sp>
    </p:spTree>
    <p:extLst>
      <p:ext uri="{BB962C8B-B14F-4D97-AF65-F5344CB8AC3E}">
        <p14:creationId xmlns:p14="http://schemas.microsoft.com/office/powerpoint/2010/main" val="2060591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FD29E-0EAC-D613-CE54-618A679F1E3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4A63A41-813A-3C47-37C9-45A579620804}"/>
              </a:ext>
            </a:extLst>
          </p:cNvPr>
          <p:cNvSpPr>
            <a:spLocks noGrp="1"/>
          </p:cNvSpPr>
          <p:nvPr>
            <p:ph type="title"/>
          </p:nvPr>
        </p:nvSpPr>
        <p:spPr/>
        <p:txBody>
          <a:bodyPr/>
          <a:lstStyle/>
          <a:p>
            <a:r>
              <a:rPr lang="pt-BR" dirty="0"/>
              <a:t>INTRODUÇÃO</a:t>
            </a:r>
          </a:p>
        </p:txBody>
      </p:sp>
      <p:sp>
        <p:nvSpPr>
          <p:cNvPr id="3" name="Espaço Reservado para Conteúdo 2">
            <a:extLst>
              <a:ext uri="{FF2B5EF4-FFF2-40B4-BE49-F238E27FC236}">
                <a16:creationId xmlns:a16="http://schemas.microsoft.com/office/drawing/2014/main" id="{BD24329D-07EF-E49E-5B28-0B3D776D660B}"/>
              </a:ext>
            </a:extLst>
          </p:cNvPr>
          <p:cNvSpPr>
            <a:spLocks noGrp="1"/>
          </p:cNvSpPr>
          <p:nvPr>
            <p:ph idx="1"/>
          </p:nvPr>
        </p:nvSpPr>
        <p:spPr/>
        <p:txBody>
          <a:bodyPr>
            <a:normAutofit/>
          </a:bodyPr>
          <a:lstStyle/>
          <a:p>
            <a:pPr>
              <a:lnSpc>
                <a:spcPct val="160000"/>
              </a:lnSpc>
            </a:pPr>
            <a:r>
              <a:rPr lang="pt-BR" sz="3000" b="1" dirty="0" err="1"/>
              <a:t>Telodendro</a:t>
            </a:r>
            <a:r>
              <a:rPr lang="pt-BR" sz="3000" b="1" dirty="0"/>
              <a:t>: </a:t>
            </a:r>
            <a:r>
              <a:rPr lang="pt-BR" sz="3000" dirty="0"/>
              <a:t>é uma ramificação terminal do axônio, onde o impulso passa de um neurônio para o outro, ou para outro órgão.</a:t>
            </a:r>
          </a:p>
          <a:p>
            <a:pPr>
              <a:lnSpc>
                <a:spcPct val="160000"/>
              </a:lnSpc>
            </a:pPr>
            <a:r>
              <a:rPr lang="pt-BR" sz="3000" dirty="0"/>
              <a:t>O espaço entre a dendrite de um neurônio e o axônio de outro é o que se chama uma </a:t>
            </a:r>
            <a:r>
              <a:rPr lang="pt-BR" sz="3000" b="1" dirty="0"/>
              <a:t>sinapse</a:t>
            </a:r>
            <a:r>
              <a:rPr lang="pt-BR" sz="3000" dirty="0"/>
              <a:t>: os sinais são transportados através das sinapses por uma variedade de substâncias químicas chamadas neurotransmissores.</a:t>
            </a:r>
          </a:p>
        </p:txBody>
      </p:sp>
    </p:spTree>
    <p:extLst>
      <p:ext uri="{BB962C8B-B14F-4D97-AF65-F5344CB8AC3E}">
        <p14:creationId xmlns:p14="http://schemas.microsoft.com/office/powerpoint/2010/main" val="1463749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D2657-F92D-10DE-B8D9-8C10706B933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AF94E1C-8957-23C5-A93D-F1537DFD0681}"/>
              </a:ext>
            </a:extLst>
          </p:cNvPr>
          <p:cNvSpPr>
            <a:spLocks noGrp="1"/>
          </p:cNvSpPr>
          <p:nvPr>
            <p:ph type="title"/>
          </p:nvPr>
        </p:nvSpPr>
        <p:spPr/>
        <p:txBody>
          <a:bodyPr/>
          <a:lstStyle/>
          <a:p>
            <a:r>
              <a:rPr lang="pt-BR" dirty="0"/>
              <a:t>REDES NEURAIS - HISTÓRICO</a:t>
            </a:r>
          </a:p>
        </p:txBody>
      </p:sp>
      <p:sp>
        <p:nvSpPr>
          <p:cNvPr id="3" name="Espaço Reservado para Conteúdo 2">
            <a:extLst>
              <a:ext uri="{FF2B5EF4-FFF2-40B4-BE49-F238E27FC236}">
                <a16:creationId xmlns:a16="http://schemas.microsoft.com/office/drawing/2014/main" id="{933B1516-C890-FC8C-C92E-E884DB93B114}"/>
              </a:ext>
            </a:extLst>
          </p:cNvPr>
          <p:cNvSpPr>
            <a:spLocks noGrp="1"/>
          </p:cNvSpPr>
          <p:nvPr>
            <p:ph idx="1"/>
          </p:nvPr>
        </p:nvSpPr>
        <p:spPr/>
        <p:txBody>
          <a:bodyPr>
            <a:normAutofit fontScale="92500"/>
          </a:bodyPr>
          <a:lstStyle/>
          <a:p>
            <a:pPr>
              <a:lnSpc>
                <a:spcPct val="160000"/>
              </a:lnSpc>
            </a:pPr>
            <a:r>
              <a:rPr lang="pt-BR" sz="3000" dirty="0"/>
              <a:t>1943: </a:t>
            </a:r>
            <a:r>
              <a:rPr lang="pt-BR" sz="3000" dirty="0" err="1"/>
              <a:t>McCullock</a:t>
            </a:r>
            <a:r>
              <a:rPr lang="pt-BR" sz="3000" dirty="0"/>
              <a:t> e </a:t>
            </a:r>
            <a:r>
              <a:rPr lang="pt-BR" sz="3000" dirty="0" err="1"/>
              <a:t>Pitts</a:t>
            </a:r>
            <a:r>
              <a:rPr lang="pt-BR" sz="3000" dirty="0"/>
              <a:t> apresentam um estudo sobre o comportamento do neurônio biológico com o objetivo de criar um modelo matemático para este.</a:t>
            </a:r>
          </a:p>
          <a:p>
            <a:pPr>
              <a:lnSpc>
                <a:spcPct val="160000"/>
              </a:lnSpc>
            </a:pPr>
            <a:r>
              <a:rPr lang="pt-BR" sz="3000" dirty="0"/>
              <a:t>1949: Donald O. </a:t>
            </a:r>
            <a:r>
              <a:rPr lang="pt-BR" sz="3000" dirty="0" err="1"/>
              <a:t>Hebb</a:t>
            </a:r>
            <a:r>
              <a:rPr lang="pt-BR" sz="3000" dirty="0"/>
              <a:t> definiu o conceito de atualização de pesos sinápticos.</a:t>
            </a:r>
          </a:p>
          <a:p>
            <a:pPr>
              <a:lnSpc>
                <a:spcPct val="160000"/>
              </a:lnSpc>
            </a:pPr>
            <a:r>
              <a:rPr lang="pt-BR" sz="3000" dirty="0"/>
              <a:t>1951: Marvin </a:t>
            </a:r>
            <a:r>
              <a:rPr lang="pt-BR" sz="3000" dirty="0" err="1"/>
              <a:t>Minski</a:t>
            </a:r>
            <a:r>
              <a:rPr lang="pt-BR" sz="3000" dirty="0"/>
              <a:t> constrói o 1º neuro-computador chamado </a:t>
            </a:r>
            <a:r>
              <a:rPr lang="pt-BR" sz="3000" dirty="0" err="1"/>
              <a:t>Snark</a:t>
            </a:r>
            <a:r>
              <a:rPr lang="pt-BR" sz="3000" dirty="0"/>
              <a:t>.</a:t>
            </a:r>
          </a:p>
          <a:p>
            <a:pPr>
              <a:lnSpc>
                <a:spcPct val="160000"/>
              </a:lnSpc>
            </a:pPr>
            <a:r>
              <a:rPr lang="pt-BR" sz="3000" dirty="0"/>
              <a:t>1957: Surge o 1º neuro-computador a obter sucesso desenvolvido por </a:t>
            </a:r>
            <a:r>
              <a:rPr lang="pt-BR" sz="3000" dirty="0" err="1"/>
              <a:t>Rosenblatt</a:t>
            </a:r>
            <a:r>
              <a:rPr lang="pt-BR" sz="3000" dirty="0"/>
              <a:t>, </a:t>
            </a:r>
            <a:r>
              <a:rPr lang="pt-BR" sz="3000" dirty="0" err="1"/>
              <a:t>Wighman</a:t>
            </a:r>
            <a:r>
              <a:rPr lang="pt-BR" sz="3000" dirty="0"/>
              <a:t> e outros.</a:t>
            </a:r>
          </a:p>
        </p:txBody>
      </p:sp>
    </p:spTree>
    <p:extLst>
      <p:ext uri="{BB962C8B-B14F-4D97-AF65-F5344CB8AC3E}">
        <p14:creationId xmlns:p14="http://schemas.microsoft.com/office/powerpoint/2010/main" val="2973298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BD38E-CAFF-022A-FCE1-4BEC1308466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D219937-F109-F8FC-ECAF-BF489E1390BF}"/>
              </a:ext>
            </a:extLst>
          </p:cNvPr>
          <p:cNvSpPr>
            <a:spLocks noGrp="1"/>
          </p:cNvSpPr>
          <p:nvPr>
            <p:ph type="title"/>
          </p:nvPr>
        </p:nvSpPr>
        <p:spPr/>
        <p:txBody>
          <a:bodyPr/>
          <a:lstStyle/>
          <a:p>
            <a:r>
              <a:rPr lang="pt-BR" dirty="0"/>
              <a:t>REDES NEURAIS - HISTÓRICO</a:t>
            </a:r>
          </a:p>
        </p:txBody>
      </p:sp>
      <p:sp>
        <p:nvSpPr>
          <p:cNvPr id="3" name="Espaço Reservado para Conteúdo 2">
            <a:extLst>
              <a:ext uri="{FF2B5EF4-FFF2-40B4-BE49-F238E27FC236}">
                <a16:creationId xmlns:a16="http://schemas.microsoft.com/office/drawing/2014/main" id="{999461D1-6B3D-9BE9-087A-1A06F4433C8A}"/>
              </a:ext>
            </a:extLst>
          </p:cNvPr>
          <p:cNvSpPr>
            <a:spLocks noGrp="1"/>
          </p:cNvSpPr>
          <p:nvPr>
            <p:ph idx="1"/>
          </p:nvPr>
        </p:nvSpPr>
        <p:spPr/>
        <p:txBody>
          <a:bodyPr>
            <a:normAutofit fontScale="92500"/>
          </a:bodyPr>
          <a:lstStyle/>
          <a:p>
            <a:pPr>
              <a:lnSpc>
                <a:spcPct val="160000"/>
              </a:lnSpc>
            </a:pPr>
            <a:r>
              <a:rPr lang="pt-BR" sz="3000" dirty="0"/>
              <a:t>1958: </a:t>
            </a:r>
            <a:r>
              <a:rPr lang="pt-BR" sz="3000" dirty="0" err="1"/>
              <a:t>Rosenblatt</a:t>
            </a:r>
            <a:r>
              <a:rPr lang="pt-BR" sz="3000" dirty="0"/>
              <a:t> implementa o 1º modelo de rede neural: o </a:t>
            </a:r>
            <a:r>
              <a:rPr lang="pt-BR" sz="3000" dirty="0" err="1"/>
              <a:t>Perceptron</a:t>
            </a:r>
            <a:r>
              <a:rPr lang="pt-BR" sz="3000" dirty="0"/>
              <a:t> (1 camada de entrada e 1 camada de saída). Este modelo não podia simular o comportamento de uma simples função XOR.</a:t>
            </a:r>
          </a:p>
          <a:p>
            <a:pPr>
              <a:lnSpc>
                <a:spcPct val="160000"/>
              </a:lnSpc>
            </a:pPr>
            <a:r>
              <a:rPr lang="pt-BR" sz="3000" dirty="0"/>
              <a:t>1972: </a:t>
            </a:r>
            <a:r>
              <a:rPr lang="pt-BR" sz="3000" dirty="0" err="1"/>
              <a:t>Teuvo</a:t>
            </a:r>
            <a:r>
              <a:rPr lang="pt-BR" sz="3000" dirty="0"/>
              <a:t> </a:t>
            </a:r>
            <a:r>
              <a:rPr lang="pt-BR" sz="3000" dirty="0" err="1"/>
              <a:t>Kohonen</a:t>
            </a:r>
            <a:r>
              <a:rPr lang="pt-BR" sz="3000" dirty="0"/>
              <a:t> definiu um novo modelo de rede neural, conhecido como “mapa </a:t>
            </a:r>
            <a:r>
              <a:rPr lang="pt-BR" sz="3000" dirty="0" err="1"/>
              <a:t>auto-reorganizável</a:t>
            </a:r>
            <a:r>
              <a:rPr lang="pt-BR" sz="3000" dirty="0"/>
              <a:t> de características”, com isto, introduziu um novo paradigma </a:t>
            </a:r>
            <a:r>
              <a:rPr lang="pt-BR" sz="3000" dirty="0" err="1"/>
              <a:t>bo</a:t>
            </a:r>
            <a:r>
              <a:rPr lang="pt-BR" sz="3000" dirty="0"/>
              <a:t> estudo das redes neurais, o aprendizado não supervisionado;</a:t>
            </a:r>
          </a:p>
        </p:txBody>
      </p:sp>
    </p:spTree>
    <p:extLst>
      <p:ext uri="{BB962C8B-B14F-4D97-AF65-F5344CB8AC3E}">
        <p14:creationId xmlns:p14="http://schemas.microsoft.com/office/powerpoint/2010/main" val="2810148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23045-C713-C953-2845-CC32742A93E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5C1C2FC-4C5A-88B8-F293-E24F8EAC2143}"/>
              </a:ext>
            </a:extLst>
          </p:cNvPr>
          <p:cNvSpPr>
            <a:spLocks noGrp="1"/>
          </p:cNvSpPr>
          <p:nvPr>
            <p:ph type="title"/>
          </p:nvPr>
        </p:nvSpPr>
        <p:spPr/>
        <p:txBody>
          <a:bodyPr/>
          <a:lstStyle/>
          <a:p>
            <a:r>
              <a:rPr lang="pt-BR" dirty="0"/>
              <a:t>REDES NEURAIS - HISTÓRICO</a:t>
            </a:r>
          </a:p>
        </p:txBody>
      </p:sp>
      <p:sp>
        <p:nvSpPr>
          <p:cNvPr id="3" name="Espaço Reservado para Conteúdo 2">
            <a:extLst>
              <a:ext uri="{FF2B5EF4-FFF2-40B4-BE49-F238E27FC236}">
                <a16:creationId xmlns:a16="http://schemas.microsoft.com/office/drawing/2014/main" id="{1DE028E6-9979-D981-AE80-D03B137387E1}"/>
              </a:ext>
            </a:extLst>
          </p:cNvPr>
          <p:cNvSpPr>
            <a:spLocks noGrp="1"/>
          </p:cNvSpPr>
          <p:nvPr>
            <p:ph idx="1"/>
          </p:nvPr>
        </p:nvSpPr>
        <p:spPr/>
        <p:txBody>
          <a:bodyPr>
            <a:normAutofit fontScale="85000" lnSpcReduction="20000"/>
          </a:bodyPr>
          <a:lstStyle/>
          <a:p>
            <a:pPr>
              <a:lnSpc>
                <a:spcPct val="160000"/>
              </a:lnSpc>
            </a:pPr>
            <a:r>
              <a:rPr lang="pt-BR" sz="3000" dirty="0"/>
              <a:t>1982 – Surge o “modelo de </a:t>
            </a:r>
            <a:r>
              <a:rPr lang="pt-BR" sz="3000" dirty="0" err="1"/>
              <a:t>Hopfield</a:t>
            </a:r>
            <a:r>
              <a:rPr lang="pt-BR" sz="3000" dirty="0"/>
              <a:t>” desenvolvido pelo físico John </a:t>
            </a:r>
            <a:r>
              <a:rPr lang="pt-BR" sz="3000" dirty="0" err="1"/>
              <a:t>Hopfield</a:t>
            </a:r>
            <a:r>
              <a:rPr lang="pt-BR" sz="3000" dirty="0"/>
              <a:t>. Este modelo é caracterizado por ser do tipo “feedback”, isto é, uma conexão das entradas com as saídas. A saída será sempre a mesma para um mesmo padrão de entrada;</a:t>
            </a:r>
          </a:p>
          <a:p>
            <a:pPr>
              <a:lnSpc>
                <a:spcPct val="160000"/>
              </a:lnSpc>
            </a:pPr>
            <a:r>
              <a:rPr lang="pt-BR" sz="3000" dirty="0"/>
              <a:t>1986 – David </a:t>
            </a:r>
            <a:r>
              <a:rPr lang="pt-BR" sz="3000" dirty="0" err="1"/>
              <a:t>Rumelhart</a:t>
            </a:r>
            <a:r>
              <a:rPr lang="pt-BR" sz="3000" dirty="0"/>
              <a:t> e James </a:t>
            </a:r>
            <a:r>
              <a:rPr lang="pt-BR" sz="3000" dirty="0" err="1"/>
              <a:t>McClelland</a:t>
            </a:r>
            <a:r>
              <a:rPr lang="pt-BR" sz="3000" dirty="0"/>
              <a:t> publicam “</a:t>
            </a:r>
            <a:r>
              <a:rPr lang="pt-BR" sz="3000" dirty="0" err="1"/>
              <a:t>Paralel</a:t>
            </a:r>
            <a:r>
              <a:rPr lang="pt-BR" sz="3000" dirty="0"/>
              <a:t> </a:t>
            </a:r>
            <a:r>
              <a:rPr lang="pt-BR" sz="3000" dirty="0" err="1"/>
              <a:t>Distributed</a:t>
            </a:r>
            <a:r>
              <a:rPr lang="pt-BR" sz="3000" dirty="0"/>
              <a:t> Processing” estimulando o campo de pesquisa;</a:t>
            </a:r>
          </a:p>
          <a:p>
            <a:pPr>
              <a:lnSpc>
                <a:spcPct val="160000"/>
              </a:lnSpc>
            </a:pPr>
            <a:r>
              <a:rPr lang="pt-BR" sz="3000" dirty="0"/>
              <a:t>1987 – Ocorre a 1ª conferência de Redes Neurais Artificiais em tempos modernos, a IEEE (The </a:t>
            </a:r>
            <a:r>
              <a:rPr lang="pt-BR" sz="3000" dirty="0" err="1"/>
              <a:t>Institute</a:t>
            </a:r>
            <a:r>
              <a:rPr lang="pt-BR" sz="3000" dirty="0"/>
              <a:t> of </a:t>
            </a:r>
            <a:r>
              <a:rPr lang="pt-BR" sz="3000" dirty="0" err="1"/>
              <a:t>Electrical</a:t>
            </a:r>
            <a:r>
              <a:rPr lang="pt-BR" sz="3000" dirty="0"/>
              <a:t> and </a:t>
            </a:r>
            <a:r>
              <a:rPr lang="pt-BR" sz="3000" dirty="0" err="1"/>
              <a:t>Electronics</a:t>
            </a:r>
            <a:r>
              <a:rPr lang="pt-BR" sz="3000" dirty="0"/>
              <a:t> </a:t>
            </a:r>
            <a:r>
              <a:rPr lang="pt-BR" sz="3000" dirty="0" err="1"/>
              <a:t>Engineers</a:t>
            </a:r>
            <a:r>
              <a:rPr lang="pt-BR" sz="3000" dirty="0"/>
              <a:t> ) International Conference on Neural Networks. Nasce a International Neural Networks Society (INSS).</a:t>
            </a:r>
          </a:p>
        </p:txBody>
      </p:sp>
    </p:spTree>
    <p:extLst>
      <p:ext uri="{BB962C8B-B14F-4D97-AF65-F5344CB8AC3E}">
        <p14:creationId xmlns:p14="http://schemas.microsoft.com/office/powerpoint/2010/main" val="3406365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BF7DB-969D-D19C-3ECA-ADEED9257F5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DDAF6A6-0E36-82E0-2AE0-8207ED2186E1}"/>
              </a:ext>
            </a:extLst>
          </p:cNvPr>
          <p:cNvSpPr>
            <a:spLocks noGrp="1"/>
          </p:cNvSpPr>
          <p:nvPr>
            <p:ph type="title"/>
          </p:nvPr>
        </p:nvSpPr>
        <p:spPr/>
        <p:txBody>
          <a:bodyPr/>
          <a:lstStyle/>
          <a:p>
            <a:r>
              <a:rPr lang="pt-BR" dirty="0"/>
              <a:t>REDES NEURAIS ARTIFICIAIS</a:t>
            </a:r>
          </a:p>
        </p:txBody>
      </p:sp>
      <p:sp>
        <p:nvSpPr>
          <p:cNvPr id="3" name="Espaço Reservado para Conteúdo 2">
            <a:extLst>
              <a:ext uri="{FF2B5EF4-FFF2-40B4-BE49-F238E27FC236}">
                <a16:creationId xmlns:a16="http://schemas.microsoft.com/office/drawing/2014/main" id="{93A86ADC-C3DD-82FB-E24E-C645FE2D35BB}"/>
              </a:ext>
            </a:extLst>
          </p:cNvPr>
          <p:cNvSpPr>
            <a:spLocks noGrp="1"/>
          </p:cNvSpPr>
          <p:nvPr>
            <p:ph idx="1"/>
          </p:nvPr>
        </p:nvSpPr>
        <p:spPr/>
        <p:txBody>
          <a:bodyPr>
            <a:normAutofit/>
          </a:bodyPr>
          <a:lstStyle/>
          <a:p>
            <a:pPr>
              <a:lnSpc>
                <a:spcPct val="160000"/>
              </a:lnSpc>
            </a:pPr>
            <a:r>
              <a:rPr lang="pt-BR" sz="3000" dirty="0"/>
              <a:t>São sistemas computacionais de implementação em hardware ou software, que imitam habilidades computacionais do sistema nervoso biológico, utilizando para isso um grande número de simples neurônios artificiais interconectados.</a:t>
            </a:r>
          </a:p>
          <a:p>
            <a:pPr>
              <a:lnSpc>
                <a:spcPct val="160000"/>
              </a:lnSpc>
            </a:pPr>
            <a:r>
              <a:rPr lang="pt-BR" sz="3000" dirty="0"/>
              <a:t>Os pesquisadores buscam nestes modelos soluções para um dos grandes problemas desta área, o aprendizado de máquina.</a:t>
            </a:r>
          </a:p>
        </p:txBody>
      </p:sp>
    </p:spTree>
    <p:extLst>
      <p:ext uri="{BB962C8B-B14F-4D97-AF65-F5344CB8AC3E}">
        <p14:creationId xmlns:p14="http://schemas.microsoft.com/office/powerpoint/2010/main" val="728364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E1B97-5EE6-2D18-3AB0-5932EB33C89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199D3AB-6064-4190-113B-9939EE61BE82}"/>
              </a:ext>
            </a:extLst>
          </p:cNvPr>
          <p:cNvSpPr>
            <a:spLocks noGrp="1"/>
          </p:cNvSpPr>
          <p:nvPr>
            <p:ph type="title"/>
          </p:nvPr>
        </p:nvSpPr>
        <p:spPr/>
        <p:txBody>
          <a:bodyPr/>
          <a:lstStyle/>
          <a:p>
            <a:r>
              <a:rPr lang="pt-BR" dirty="0"/>
              <a:t>REDES NEURAIS ARTIFICIAIS</a:t>
            </a:r>
          </a:p>
        </p:txBody>
      </p:sp>
      <p:sp>
        <p:nvSpPr>
          <p:cNvPr id="3" name="Espaço Reservado para Conteúdo 2">
            <a:extLst>
              <a:ext uri="{FF2B5EF4-FFF2-40B4-BE49-F238E27FC236}">
                <a16:creationId xmlns:a16="http://schemas.microsoft.com/office/drawing/2014/main" id="{71FD8D85-E1C4-A0DC-30E9-0A58C7F6ABEA}"/>
              </a:ext>
            </a:extLst>
          </p:cNvPr>
          <p:cNvSpPr>
            <a:spLocks noGrp="1"/>
          </p:cNvSpPr>
          <p:nvPr>
            <p:ph idx="1"/>
          </p:nvPr>
        </p:nvSpPr>
        <p:spPr/>
        <p:txBody>
          <a:bodyPr>
            <a:normAutofit/>
          </a:bodyPr>
          <a:lstStyle/>
          <a:p>
            <a:pPr>
              <a:lnSpc>
                <a:spcPct val="160000"/>
              </a:lnSpc>
            </a:pPr>
            <a:r>
              <a:rPr lang="pt-BR" sz="3000" dirty="0"/>
              <a:t>A discussão em torno das Redes Neurais Artificiais é norteada pela análise dos seguintes aspectos:</a:t>
            </a:r>
          </a:p>
          <a:p>
            <a:pPr lvl="1">
              <a:lnSpc>
                <a:spcPct val="160000"/>
              </a:lnSpc>
            </a:pPr>
            <a:r>
              <a:rPr lang="pt-BR" sz="2600" b="1" dirty="0"/>
              <a:t>Neurônio:</a:t>
            </a:r>
            <a:r>
              <a:rPr lang="pt-BR" sz="2600" dirty="0"/>
              <a:t> unidade computacional básica da rede.</a:t>
            </a:r>
          </a:p>
          <a:p>
            <a:pPr lvl="1">
              <a:lnSpc>
                <a:spcPct val="160000"/>
              </a:lnSpc>
            </a:pPr>
            <a:r>
              <a:rPr lang="pt-BR" sz="2600" b="1" dirty="0"/>
              <a:t>Arquitetura:</a:t>
            </a:r>
            <a:r>
              <a:rPr lang="pt-BR" sz="2600" dirty="0"/>
              <a:t> estrutura topológica de como os neurônios são conectados.</a:t>
            </a:r>
          </a:p>
          <a:p>
            <a:pPr lvl="1">
              <a:lnSpc>
                <a:spcPct val="160000"/>
              </a:lnSpc>
            </a:pPr>
            <a:r>
              <a:rPr lang="pt-BR" sz="2600" b="1" dirty="0"/>
              <a:t>Aprendizagem:</a:t>
            </a:r>
            <a:r>
              <a:rPr lang="pt-BR" sz="2600" dirty="0"/>
              <a:t> processo que adapta a rede de modo a computar uma função desejada ou realizar uma tarefa.</a:t>
            </a:r>
          </a:p>
        </p:txBody>
      </p:sp>
    </p:spTree>
    <p:extLst>
      <p:ext uri="{BB962C8B-B14F-4D97-AF65-F5344CB8AC3E}">
        <p14:creationId xmlns:p14="http://schemas.microsoft.com/office/powerpoint/2010/main" val="274504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70AA2-7E85-6CD1-7172-AB2920F8FFF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E723A47-7BF1-BAB5-306B-61E1A5F37963}"/>
              </a:ext>
            </a:extLst>
          </p:cNvPr>
          <p:cNvSpPr>
            <a:spLocks noGrp="1"/>
          </p:cNvSpPr>
          <p:nvPr>
            <p:ph type="title"/>
          </p:nvPr>
        </p:nvSpPr>
        <p:spPr/>
        <p:txBody>
          <a:bodyPr/>
          <a:lstStyle/>
          <a:p>
            <a:r>
              <a:rPr lang="pt-BR" dirty="0"/>
              <a:t>REDES NEURAIS ARTIFICIAIS</a:t>
            </a:r>
          </a:p>
        </p:txBody>
      </p:sp>
      <p:sp>
        <p:nvSpPr>
          <p:cNvPr id="3" name="Espaço Reservado para Conteúdo 2">
            <a:extLst>
              <a:ext uri="{FF2B5EF4-FFF2-40B4-BE49-F238E27FC236}">
                <a16:creationId xmlns:a16="http://schemas.microsoft.com/office/drawing/2014/main" id="{0A900C89-F21F-777C-D7AB-BFEC02063561}"/>
              </a:ext>
            </a:extLst>
          </p:cNvPr>
          <p:cNvSpPr>
            <a:spLocks noGrp="1"/>
          </p:cNvSpPr>
          <p:nvPr>
            <p:ph idx="1"/>
          </p:nvPr>
        </p:nvSpPr>
        <p:spPr/>
        <p:txBody>
          <a:bodyPr>
            <a:normAutofit/>
          </a:bodyPr>
          <a:lstStyle/>
          <a:p>
            <a:pPr>
              <a:lnSpc>
                <a:spcPct val="160000"/>
              </a:lnSpc>
            </a:pPr>
            <a:r>
              <a:rPr lang="pt-BR" sz="3000" dirty="0"/>
              <a:t>A grande premissa do conexionismo para aplicações em processamento de informações e/ou inteligência artificial é o fato de que se </a:t>
            </a:r>
            <a:r>
              <a:rPr lang="pt-BR" sz="3000" b="1" dirty="0"/>
              <a:t>pode analisar um problema de acordo como funcionamento do cérebro humano</a:t>
            </a:r>
            <a:r>
              <a:rPr lang="pt-BR" sz="3000" dirty="0"/>
              <a:t>.</a:t>
            </a:r>
          </a:p>
          <a:p>
            <a:pPr>
              <a:lnSpc>
                <a:spcPct val="160000"/>
              </a:lnSpc>
            </a:pPr>
            <a:r>
              <a:rPr lang="pt-BR" sz="2600" dirty="0"/>
              <a:t>O cérebro processa informações através da ativação de uma série de neurônios biológicos. Os neurônios por sua vez, interagem numa rede biológica através da intercomunicação.</a:t>
            </a:r>
          </a:p>
        </p:txBody>
      </p:sp>
    </p:spTree>
    <p:extLst>
      <p:ext uri="{BB962C8B-B14F-4D97-AF65-F5344CB8AC3E}">
        <p14:creationId xmlns:p14="http://schemas.microsoft.com/office/powerpoint/2010/main" val="2763722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B3C9D-72F5-E955-C075-96F2875B9E3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C37A2AB-2019-5F17-79CD-24A49E0BAFF2}"/>
              </a:ext>
            </a:extLst>
          </p:cNvPr>
          <p:cNvSpPr>
            <a:spLocks noGrp="1"/>
          </p:cNvSpPr>
          <p:nvPr>
            <p:ph type="title"/>
          </p:nvPr>
        </p:nvSpPr>
        <p:spPr/>
        <p:txBody>
          <a:bodyPr/>
          <a:lstStyle/>
          <a:p>
            <a:r>
              <a:rPr lang="pt-BR" dirty="0"/>
              <a:t>REDES NEURAIS ARTIFICIAIS</a:t>
            </a:r>
          </a:p>
        </p:txBody>
      </p:sp>
      <p:sp>
        <p:nvSpPr>
          <p:cNvPr id="3" name="Espaço Reservado para Conteúdo 2">
            <a:extLst>
              <a:ext uri="{FF2B5EF4-FFF2-40B4-BE49-F238E27FC236}">
                <a16:creationId xmlns:a16="http://schemas.microsoft.com/office/drawing/2014/main" id="{8E935319-C950-0EEB-7D2D-C8A809C19492}"/>
              </a:ext>
            </a:extLst>
          </p:cNvPr>
          <p:cNvSpPr>
            <a:spLocks noGrp="1"/>
          </p:cNvSpPr>
          <p:nvPr>
            <p:ph idx="1"/>
          </p:nvPr>
        </p:nvSpPr>
        <p:spPr/>
        <p:txBody>
          <a:bodyPr>
            <a:normAutofit/>
          </a:bodyPr>
          <a:lstStyle/>
          <a:p>
            <a:pPr>
              <a:lnSpc>
                <a:spcPct val="160000"/>
              </a:lnSpc>
            </a:pPr>
            <a:r>
              <a:rPr lang="pt-BR" sz="3000" dirty="0" err="1"/>
              <a:t>McCullock</a:t>
            </a:r>
            <a:r>
              <a:rPr lang="pt-BR" sz="3000" dirty="0"/>
              <a:t> e </a:t>
            </a:r>
            <a:r>
              <a:rPr lang="pt-BR" sz="3000" dirty="0" err="1"/>
              <a:t>Pitts</a:t>
            </a:r>
            <a:r>
              <a:rPr lang="pt-BR" sz="3000" dirty="0"/>
              <a:t> (1943)</a:t>
            </a:r>
            <a:endParaRPr lang="pt-BR" sz="2600" dirty="0"/>
          </a:p>
        </p:txBody>
      </p:sp>
      <p:pic>
        <p:nvPicPr>
          <p:cNvPr id="5" name="Imagem 4">
            <a:extLst>
              <a:ext uri="{FF2B5EF4-FFF2-40B4-BE49-F238E27FC236}">
                <a16:creationId xmlns:a16="http://schemas.microsoft.com/office/drawing/2014/main" id="{4196A7F8-22E8-9D9F-401A-66F929D01EBA}"/>
              </a:ext>
            </a:extLst>
          </p:cNvPr>
          <p:cNvPicPr>
            <a:picLocks noChangeAspect="1"/>
          </p:cNvPicPr>
          <p:nvPr/>
        </p:nvPicPr>
        <p:blipFill>
          <a:blip r:embed="rId2"/>
          <a:stretch>
            <a:fillRect/>
          </a:stretch>
        </p:blipFill>
        <p:spPr>
          <a:xfrm>
            <a:off x="3595891" y="2421606"/>
            <a:ext cx="5000218" cy="3002675"/>
          </a:xfrm>
          <a:prstGeom prst="rect">
            <a:avLst/>
          </a:prstGeom>
        </p:spPr>
      </p:pic>
    </p:spTree>
    <p:extLst>
      <p:ext uri="{BB962C8B-B14F-4D97-AF65-F5344CB8AC3E}">
        <p14:creationId xmlns:p14="http://schemas.microsoft.com/office/powerpoint/2010/main" val="4725193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BF9BE-68BE-10BB-6FF0-EE3911A685C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52093E8-5FFC-02AC-0F14-BBDECE2FE85D}"/>
              </a:ext>
            </a:extLst>
          </p:cNvPr>
          <p:cNvSpPr>
            <a:spLocks noGrp="1"/>
          </p:cNvSpPr>
          <p:nvPr>
            <p:ph type="title"/>
          </p:nvPr>
        </p:nvSpPr>
        <p:spPr/>
        <p:txBody>
          <a:bodyPr/>
          <a:lstStyle/>
          <a:p>
            <a:r>
              <a:rPr lang="pt-BR" dirty="0"/>
              <a:t>REDES NEURAIS ARTIFICIAIS</a:t>
            </a:r>
          </a:p>
        </p:txBody>
      </p:sp>
      <p:sp>
        <p:nvSpPr>
          <p:cNvPr id="3" name="Espaço Reservado para Conteúdo 2">
            <a:extLst>
              <a:ext uri="{FF2B5EF4-FFF2-40B4-BE49-F238E27FC236}">
                <a16:creationId xmlns:a16="http://schemas.microsoft.com/office/drawing/2014/main" id="{79D78A6E-E8C5-7E1C-4D73-C73587B3499C}"/>
              </a:ext>
            </a:extLst>
          </p:cNvPr>
          <p:cNvSpPr>
            <a:spLocks noGrp="1"/>
          </p:cNvSpPr>
          <p:nvPr>
            <p:ph idx="1"/>
          </p:nvPr>
        </p:nvSpPr>
        <p:spPr/>
        <p:txBody>
          <a:bodyPr>
            <a:normAutofit/>
          </a:bodyPr>
          <a:lstStyle/>
          <a:p>
            <a:pPr>
              <a:lnSpc>
                <a:spcPct val="160000"/>
              </a:lnSpc>
            </a:pPr>
            <a:r>
              <a:rPr lang="pt-BR" sz="3000" dirty="0"/>
              <a:t>A operação de uma unidade de processamento pode ser resumida da seguinte forma:</a:t>
            </a:r>
          </a:p>
          <a:p>
            <a:pPr lvl="1">
              <a:lnSpc>
                <a:spcPct val="160000"/>
              </a:lnSpc>
            </a:pPr>
            <a:r>
              <a:rPr lang="pt-BR" sz="2200" dirty="0"/>
              <a:t>Sinais são apresentados a entrada.</a:t>
            </a:r>
          </a:p>
          <a:p>
            <a:pPr lvl="1">
              <a:lnSpc>
                <a:spcPct val="160000"/>
              </a:lnSpc>
            </a:pPr>
            <a:r>
              <a:rPr lang="pt-BR" sz="2200" dirty="0"/>
              <a:t>Cada sinal é multiplicado por um número (peso) que indica a sua influência na saída da unidade.</a:t>
            </a:r>
          </a:p>
          <a:p>
            <a:pPr lvl="1">
              <a:lnSpc>
                <a:spcPct val="160000"/>
              </a:lnSpc>
            </a:pPr>
            <a:r>
              <a:rPr lang="pt-BR" sz="2200" dirty="0"/>
              <a:t>É feita a soma ponderada dos sinais que produz um nível de atividade.</a:t>
            </a:r>
          </a:p>
          <a:p>
            <a:pPr lvl="1">
              <a:lnSpc>
                <a:spcPct val="160000"/>
              </a:lnSpc>
            </a:pPr>
            <a:r>
              <a:rPr lang="pt-BR" sz="2200" dirty="0"/>
              <a:t>Se este nível de atividade exceder um certo limite, a unidade produz uma determinada resposta de saída.</a:t>
            </a:r>
          </a:p>
        </p:txBody>
      </p:sp>
    </p:spTree>
    <p:extLst>
      <p:ext uri="{BB962C8B-B14F-4D97-AF65-F5344CB8AC3E}">
        <p14:creationId xmlns:p14="http://schemas.microsoft.com/office/powerpoint/2010/main" val="4096036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A6BE3-2DD9-219D-62B3-F1BD7868008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4BFEAB8-034B-A7BE-08F6-5643A63E2B4B}"/>
              </a:ext>
            </a:extLst>
          </p:cNvPr>
          <p:cNvSpPr>
            <a:spLocks noGrp="1"/>
          </p:cNvSpPr>
          <p:nvPr>
            <p:ph type="title"/>
          </p:nvPr>
        </p:nvSpPr>
        <p:spPr/>
        <p:txBody>
          <a:bodyPr/>
          <a:lstStyle/>
          <a:p>
            <a:r>
              <a:rPr lang="pt-BR" dirty="0"/>
              <a:t>MODELO MATEMÁTICO</a:t>
            </a:r>
          </a:p>
        </p:txBody>
      </p:sp>
      <p:sp>
        <p:nvSpPr>
          <p:cNvPr id="3" name="Espaço Reservado para Conteúdo 2">
            <a:extLst>
              <a:ext uri="{FF2B5EF4-FFF2-40B4-BE49-F238E27FC236}">
                <a16:creationId xmlns:a16="http://schemas.microsoft.com/office/drawing/2014/main" id="{E000D385-6874-C16B-25EC-36B3402CF400}"/>
              </a:ext>
            </a:extLst>
          </p:cNvPr>
          <p:cNvSpPr>
            <a:spLocks noGrp="1"/>
          </p:cNvSpPr>
          <p:nvPr>
            <p:ph idx="1"/>
          </p:nvPr>
        </p:nvSpPr>
        <p:spPr/>
        <p:txBody>
          <a:bodyPr>
            <a:normAutofit/>
          </a:bodyPr>
          <a:lstStyle/>
          <a:p>
            <a:pPr marL="0" indent="0">
              <a:lnSpc>
                <a:spcPct val="160000"/>
              </a:lnSpc>
              <a:buNone/>
            </a:pPr>
            <a:endParaRPr lang="pt-BR" sz="2200" dirty="0"/>
          </a:p>
        </p:txBody>
      </p:sp>
      <p:pic>
        <p:nvPicPr>
          <p:cNvPr id="7" name="Imagem 6">
            <a:extLst>
              <a:ext uri="{FF2B5EF4-FFF2-40B4-BE49-F238E27FC236}">
                <a16:creationId xmlns:a16="http://schemas.microsoft.com/office/drawing/2014/main" id="{9731DDC9-2D48-C5C6-687B-DEC148E42993}"/>
              </a:ext>
            </a:extLst>
          </p:cNvPr>
          <p:cNvPicPr>
            <a:picLocks noChangeAspect="1"/>
          </p:cNvPicPr>
          <p:nvPr/>
        </p:nvPicPr>
        <p:blipFill>
          <a:blip r:embed="rId2"/>
          <a:stretch>
            <a:fillRect/>
          </a:stretch>
        </p:blipFill>
        <p:spPr>
          <a:xfrm>
            <a:off x="2086931" y="1632150"/>
            <a:ext cx="8018138" cy="4277335"/>
          </a:xfrm>
          <a:prstGeom prst="rect">
            <a:avLst/>
          </a:prstGeom>
        </p:spPr>
      </p:pic>
    </p:spTree>
    <p:extLst>
      <p:ext uri="{BB962C8B-B14F-4D97-AF65-F5344CB8AC3E}">
        <p14:creationId xmlns:p14="http://schemas.microsoft.com/office/powerpoint/2010/main" val="3063303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46245-74F4-EC4B-A507-A66B22A9B41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6AA0DA0-CE1D-E92E-544D-1D3ACF80562A}"/>
              </a:ext>
            </a:extLst>
          </p:cNvPr>
          <p:cNvSpPr>
            <a:spLocks noGrp="1"/>
          </p:cNvSpPr>
          <p:nvPr>
            <p:ph type="title"/>
          </p:nvPr>
        </p:nvSpPr>
        <p:spPr/>
        <p:txBody>
          <a:bodyPr/>
          <a:lstStyle/>
          <a:p>
            <a:r>
              <a:rPr lang="pt-BR" dirty="0"/>
              <a:t>REDES NEURAIS ARTIFICIAIS</a:t>
            </a:r>
          </a:p>
        </p:txBody>
      </p:sp>
      <p:sp>
        <p:nvSpPr>
          <p:cNvPr id="3" name="Espaço Reservado para Conteúdo 2">
            <a:extLst>
              <a:ext uri="{FF2B5EF4-FFF2-40B4-BE49-F238E27FC236}">
                <a16:creationId xmlns:a16="http://schemas.microsoft.com/office/drawing/2014/main" id="{8ABEA470-47DB-811F-23DA-9E451762CC22}"/>
              </a:ext>
            </a:extLst>
          </p:cNvPr>
          <p:cNvSpPr>
            <a:spLocks noGrp="1"/>
          </p:cNvSpPr>
          <p:nvPr>
            <p:ph idx="1"/>
          </p:nvPr>
        </p:nvSpPr>
        <p:spPr/>
        <p:txBody>
          <a:bodyPr>
            <a:normAutofit fontScale="92500" lnSpcReduction="10000"/>
          </a:bodyPr>
          <a:lstStyle/>
          <a:p>
            <a:pPr>
              <a:lnSpc>
                <a:spcPct val="160000"/>
              </a:lnSpc>
            </a:pPr>
            <a:r>
              <a:rPr lang="pt-BR" sz="3000" dirty="0"/>
              <a:t>A maioria dos modelos de Redes Neurais possui alguma regra de treinamento, onde os pesos das conexões são ajustados de acordo com os padrões apresentados, ou seja, aprendem através de exemplos.</a:t>
            </a:r>
          </a:p>
          <a:p>
            <a:pPr>
              <a:lnSpc>
                <a:spcPct val="160000"/>
              </a:lnSpc>
            </a:pPr>
            <a:r>
              <a:rPr lang="pt-BR" sz="3000" dirty="0"/>
              <a:t>Um neurônio soma todos os pesos das entradas e passa o resultado para uma função de ativação (função de transferência) não linear que será responsável por determinar a forma e a intensidade de alterações dos valores transmitidos de um neurônio a outro.</a:t>
            </a:r>
            <a:endParaRPr lang="pt-BR" sz="2200" dirty="0"/>
          </a:p>
        </p:txBody>
      </p:sp>
    </p:spTree>
    <p:extLst>
      <p:ext uri="{BB962C8B-B14F-4D97-AF65-F5344CB8AC3E}">
        <p14:creationId xmlns:p14="http://schemas.microsoft.com/office/powerpoint/2010/main" val="2155351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19A24-7C36-C06E-3983-4658BDC6BC3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6D018C0-BADB-EC51-72C3-B65FBBD473BF}"/>
              </a:ext>
            </a:extLst>
          </p:cNvPr>
          <p:cNvSpPr>
            <a:spLocks noGrp="1"/>
          </p:cNvSpPr>
          <p:nvPr>
            <p:ph type="title"/>
          </p:nvPr>
        </p:nvSpPr>
        <p:spPr/>
        <p:txBody>
          <a:bodyPr/>
          <a:lstStyle/>
          <a:p>
            <a:r>
              <a:rPr lang="pt-BR" dirty="0"/>
              <a:t>REDES NEURAIS ARTIFICIAIS</a:t>
            </a:r>
          </a:p>
        </p:txBody>
      </p:sp>
      <p:sp>
        <p:nvSpPr>
          <p:cNvPr id="3" name="Espaço Reservado para Conteúdo 2">
            <a:extLst>
              <a:ext uri="{FF2B5EF4-FFF2-40B4-BE49-F238E27FC236}">
                <a16:creationId xmlns:a16="http://schemas.microsoft.com/office/drawing/2014/main" id="{CAC1DABD-0295-A0C9-DEAB-F70653B17311}"/>
              </a:ext>
            </a:extLst>
          </p:cNvPr>
          <p:cNvSpPr>
            <a:spLocks noGrp="1"/>
          </p:cNvSpPr>
          <p:nvPr>
            <p:ph idx="1"/>
          </p:nvPr>
        </p:nvSpPr>
        <p:spPr/>
        <p:txBody>
          <a:bodyPr>
            <a:normAutofit/>
          </a:bodyPr>
          <a:lstStyle/>
          <a:p>
            <a:pPr>
              <a:lnSpc>
                <a:spcPct val="160000"/>
              </a:lnSpc>
            </a:pPr>
            <a:r>
              <a:rPr lang="pt-BR" sz="3000" dirty="0"/>
              <a:t>Exemplos de funções de ativação: Função Degrau, Função Linear e Função </a:t>
            </a:r>
            <a:r>
              <a:rPr lang="pt-BR" sz="3000" dirty="0" err="1"/>
              <a:t>Sigmóide</a:t>
            </a:r>
            <a:r>
              <a:rPr lang="pt-BR" sz="3000" dirty="0"/>
              <a:t>.</a:t>
            </a:r>
            <a:endParaRPr lang="pt-BR" sz="2200" dirty="0"/>
          </a:p>
        </p:txBody>
      </p:sp>
      <p:pic>
        <p:nvPicPr>
          <p:cNvPr id="5" name="Imagem 4">
            <a:extLst>
              <a:ext uri="{FF2B5EF4-FFF2-40B4-BE49-F238E27FC236}">
                <a16:creationId xmlns:a16="http://schemas.microsoft.com/office/drawing/2014/main" id="{302170BE-5EA5-E548-44F7-75D49C43A987}"/>
              </a:ext>
            </a:extLst>
          </p:cNvPr>
          <p:cNvPicPr>
            <a:picLocks noChangeAspect="1"/>
          </p:cNvPicPr>
          <p:nvPr/>
        </p:nvPicPr>
        <p:blipFill>
          <a:blip r:embed="rId2"/>
          <a:stretch>
            <a:fillRect/>
          </a:stretch>
        </p:blipFill>
        <p:spPr>
          <a:xfrm>
            <a:off x="2389708" y="3087270"/>
            <a:ext cx="7412583" cy="2900576"/>
          </a:xfrm>
          <a:prstGeom prst="rect">
            <a:avLst/>
          </a:prstGeom>
        </p:spPr>
      </p:pic>
    </p:spTree>
    <p:extLst>
      <p:ext uri="{BB962C8B-B14F-4D97-AF65-F5344CB8AC3E}">
        <p14:creationId xmlns:p14="http://schemas.microsoft.com/office/powerpoint/2010/main" val="20971443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23564-2388-5759-CE8E-03D434C3A9E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AD4AFED-6EC0-C89F-F953-CE57C172460D}"/>
              </a:ext>
            </a:extLst>
          </p:cNvPr>
          <p:cNvSpPr>
            <a:spLocks noGrp="1"/>
          </p:cNvSpPr>
          <p:nvPr>
            <p:ph type="title"/>
          </p:nvPr>
        </p:nvSpPr>
        <p:spPr/>
        <p:txBody>
          <a:bodyPr/>
          <a:lstStyle/>
          <a:p>
            <a:r>
              <a:rPr lang="pt-BR" dirty="0"/>
              <a:t>REDES NEURAIS ARTIFICIAIS</a:t>
            </a:r>
          </a:p>
        </p:txBody>
      </p:sp>
      <p:sp>
        <p:nvSpPr>
          <p:cNvPr id="3" name="Espaço Reservado para Conteúdo 2">
            <a:extLst>
              <a:ext uri="{FF2B5EF4-FFF2-40B4-BE49-F238E27FC236}">
                <a16:creationId xmlns:a16="http://schemas.microsoft.com/office/drawing/2014/main" id="{4447DF71-C3F6-059F-C3FF-8BA445AF18BA}"/>
              </a:ext>
            </a:extLst>
          </p:cNvPr>
          <p:cNvSpPr>
            <a:spLocks noGrp="1"/>
          </p:cNvSpPr>
          <p:nvPr>
            <p:ph idx="1"/>
          </p:nvPr>
        </p:nvSpPr>
        <p:spPr/>
        <p:txBody>
          <a:bodyPr>
            <a:normAutofit lnSpcReduction="10000"/>
          </a:bodyPr>
          <a:lstStyle/>
          <a:p>
            <a:pPr>
              <a:lnSpc>
                <a:spcPct val="160000"/>
              </a:lnSpc>
            </a:pPr>
            <a:r>
              <a:rPr lang="pt-BR" dirty="0"/>
              <a:t>A habilidade de aprender de uma RNA ocorre através de um processo interativo de ajustes aplicado a seus pesos, o treinamento. O aprendizado ocorre quando a RNA atinge uma solução generalizada para uma classe de problemas.</a:t>
            </a:r>
          </a:p>
          <a:p>
            <a:pPr>
              <a:lnSpc>
                <a:spcPct val="160000"/>
              </a:lnSpc>
            </a:pPr>
            <a:r>
              <a:rPr lang="pt-BR" dirty="0"/>
              <a:t>A maioria dos modelos de Redes Neurais possui alguma regra de treinamento, onde os pesos das conexões são ajustados de acordo com os padrões apresentados, ou seja, aprendem através de exemplos. Desta forma, uma RNA é capaz de extrair regras básicas a partir de dados reais.</a:t>
            </a:r>
          </a:p>
        </p:txBody>
      </p:sp>
    </p:spTree>
    <p:extLst>
      <p:ext uri="{BB962C8B-B14F-4D97-AF65-F5344CB8AC3E}">
        <p14:creationId xmlns:p14="http://schemas.microsoft.com/office/powerpoint/2010/main" val="3529540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36C91-34F8-E025-B2D2-8BE9C2469E1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80002E9-88C2-3E7E-D2B7-616AF2FA7A88}"/>
              </a:ext>
            </a:extLst>
          </p:cNvPr>
          <p:cNvSpPr>
            <a:spLocks noGrp="1"/>
          </p:cNvSpPr>
          <p:nvPr>
            <p:ph type="title"/>
          </p:nvPr>
        </p:nvSpPr>
        <p:spPr/>
        <p:txBody>
          <a:bodyPr/>
          <a:lstStyle/>
          <a:p>
            <a:r>
              <a:rPr lang="pt-BR" dirty="0"/>
              <a:t>REDES NEURAIS ARTIFICIAIS</a:t>
            </a:r>
          </a:p>
        </p:txBody>
      </p:sp>
      <p:sp>
        <p:nvSpPr>
          <p:cNvPr id="3" name="Espaço Reservado para Conteúdo 2">
            <a:extLst>
              <a:ext uri="{FF2B5EF4-FFF2-40B4-BE49-F238E27FC236}">
                <a16:creationId xmlns:a16="http://schemas.microsoft.com/office/drawing/2014/main" id="{7BA3250D-AFF6-95F7-6F2C-45A340B7C179}"/>
              </a:ext>
            </a:extLst>
          </p:cNvPr>
          <p:cNvSpPr>
            <a:spLocks noGrp="1"/>
          </p:cNvSpPr>
          <p:nvPr>
            <p:ph idx="1"/>
          </p:nvPr>
        </p:nvSpPr>
        <p:spPr/>
        <p:txBody>
          <a:bodyPr>
            <a:normAutofit/>
          </a:bodyPr>
          <a:lstStyle/>
          <a:p>
            <a:pPr>
              <a:lnSpc>
                <a:spcPct val="200000"/>
              </a:lnSpc>
            </a:pPr>
            <a:r>
              <a:rPr lang="pt-BR" dirty="0"/>
              <a:t>As </a:t>
            </a:r>
            <a:r>
              <a:rPr lang="pt-BR" dirty="0" err="1"/>
              <a:t>RNAs</a:t>
            </a:r>
            <a:r>
              <a:rPr lang="pt-BR" dirty="0"/>
              <a:t> podem ser distinguidas com base na direção na qual o sinal flui:</a:t>
            </a:r>
          </a:p>
          <a:p>
            <a:pPr lvl="1">
              <a:lnSpc>
                <a:spcPct val="200000"/>
              </a:lnSpc>
            </a:pPr>
            <a:r>
              <a:rPr lang="pt-BR" b="1" dirty="0"/>
              <a:t>FEEDFORWARD: </a:t>
            </a:r>
            <a:r>
              <a:rPr lang="pt-BR" dirty="0"/>
              <a:t>sinais se propagam em uma direção a partir da unidade de entrada, passando pela camada intermediária até a saída.</a:t>
            </a:r>
          </a:p>
          <a:p>
            <a:pPr lvl="1">
              <a:lnSpc>
                <a:spcPct val="200000"/>
              </a:lnSpc>
            </a:pPr>
            <a:r>
              <a:rPr lang="pt-BR" b="1" dirty="0"/>
              <a:t>FEEDBACK: </a:t>
            </a:r>
            <a:r>
              <a:rPr lang="pt-BR" dirty="0"/>
              <a:t>os sinais de entrada podem propagar da saída de qualquer neurônio para a entrada em um outro neurônio.</a:t>
            </a:r>
          </a:p>
        </p:txBody>
      </p:sp>
    </p:spTree>
    <p:extLst>
      <p:ext uri="{BB962C8B-B14F-4D97-AF65-F5344CB8AC3E}">
        <p14:creationId xmlns:p14="http://schemas.microsoft.com/office/powerpoint/2010/main" val="9400631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54E0A-F306-049B-8E5C-9D05DC74E76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2B07688-7B7A-04A7-FF4E-3CF2F8C368AA}"/>
              </a:ext>
            </a:extLst>
          </p:cNvPr>
          <p:cNvSpPr>
            <a:spLocks noGrp="1"/>
          </p:cNvSpPr>
          <p:nvPr>
            <p:ph type="title"/>
          </p:nvPr>
        </p:nvSpPr>
        <p:spPr/>
        <p:txBody>
          <a:bodyPr/>
          <a:lstStyle/>
          <a:p>
            <a:r>
              <a:rPr lang="pt-BR" dirty="0"/>
              <a:t>REDES NEURAIS ARTIFICIAIS</a:t>
            </a:r>
          </a:p>
        </p:txBody>
      </p:sp>
      <p:sp>
        <p:nvSpPr>
          <p:cNvPr id="3" name="Espaço Reservado para Conteúdo 2">
            <a:extLst>
              <a:ext uri="{FF2B5EF4-FFF2-40B4-BE49-F238E27FC236}">
                <a16:creationId xmlns:a16="http://schemas.microsoft.com/office/drawing/2014/main" id="{74D7272B-862B-6B88-1954-9BC5FC5E20BE}"/>
              </a:ext>
            </a:extLst>
          </p:cNvPr>
          <p:cNvSpPr>
            <a:spLocks noGrp="1"/>
          </p:cNvSpPr>
          <p:nvPr>
            <p:ph idx="1"/>
          </p:nvPr>
        </p:nvSpPr>
        <p:spPr/>
        <p:txBody>
          <a:bodyPr>
            <a:normAutofit/>
          </a:bodyPr>
          <a:lstStyle/>
          <a:p>
            <a:pPr>
              <a:lnSpc>
                <a:spcPct val="200000"/>
              </a:lnSpc>
            </a:pPr>
            <a:r>
              <a:rPr lang="pt-BR" dirty="0"/>
              <a:t>Paradigmas de aprendizado:</a:t>
            </a:r>
          </a:p>
          <a:p>
            <a:pPr lvl="1">
              <a:lnSpc>
                <a:spcPct val="200000"/>
              </a:lnSpc>
            </a:pPr>
            <a:r>
              <a:rPr lang="pt-BR" b="1" dirty="0"/>
              <a:t>SUPERVISIONADO: </a:t>
            </a:r>
            <a:r>
              <a:rPr lang="pt-BR" dirty="0"/>
              <a:t>utiliza-se um agente externo que indica a rede a resposta desejada para o padrão de entrada.</a:t>
            </a:r>
          </a:p>
          <a:p>
            <a:pPr lvl="1">
              <a:lnSpc>
                <a:spcPct val="200000"/>
              </a:lnSpc>
            </a:pPr>
            <a:r>
              <a:rPr lang="pt-BR" b="1" dirty="0"/>
              <a:t>NÃO-SUPERVISIONADO: </a:t>
            </a:r>
            <a:r>
              <a:rPr lang="pt-BR" dirty="0"/>
              <a:t>não existe um agente externo.</a:t>
            </a:r>
          </a:p>
        </p:txBody>
      </p:sp>
    </p:spTree>
    <p:extLst>
      <p:ext uri="{BB962C8B-B14F-4D97-AF65-F5344CB8AC3E}">
        <p14:creationId xmlns:p14="http://schemas.microsoft.com/office/powerpoint/2010/main" val="2483892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64BF5-5EB7-C579-2EA4-B2962DBAB8A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5FC05B7-364F-86EE-1BB6-8EBD4E346041}"/>
              </a:ext>
            </a:extLst>
          </p:cNvPr>
          <p:cNvSpPr>
            <a:spLocks noGrp="1"/>
          </p:cNvSpPr>
          <p:nvPr>
            <p:ph type="title"/>
          </p:nvPr>
        </p:nvSpPr>
        <p:spPr/>
        <p:txBody>
          <a:bodyPr/>
          <a:lstStyle/>
          <a:p>
            <a:r>
              <a:rPr lang="pt-BR" dirty="0"/>
              <a:t>REDES NEURAIS ARTIFICIAIS</a:t>
            </a:r>
          </a:p>
        </p:txBody>
      </p:sp>
      <p:sp>
        <p:nvSpPr>
          <p:cNvPr id="3" name="Espaço Reservado para Conteúdo 2">
            <a:extLst>
              <a:ext uri="{FF2B5EF4-FFF2-40B4-BE49-F238E27FC236}">
                <a16:creationId xmlns:a16="http://schemas.microsoft.com/office/drawing/2014/main" id="{684F766B-89E7-999E-97E7-E426B843E38E}"/>
              </a:ext>
            </a:extLst>
          </p:cNvPr>
          <p:cNvSpPr>
            <a:spLocks noGrp="1"/>
          </p:cNvSpPr>
          <p:nvPr>
            <p:ph idx="1"/>
          </p:nvPr>
        </p:nvSpPr>
        <p:spPr/>
        <p:txBody>
          <a:bodyPr>
            <a:normAutofit lnSpcReduction="10000"/>
          </a:bodyPr>
          <a:lstStyle/>
          <a:p>
            <a:pPr lvl="1">
              <a:lnSpc>
                <a:spcPct val="200000"/>
              </a:lnSpc>
            </a:pPr>
            <a:r>
              <a:rPr lang="pt-BR" sz="2800" dirty="0"/>
              <a:t>Exemplos de </a:t>
            </a:r>
            <a:r>
              <a:rPr lang="pt-BR" sz="2800" dirty="0" err="1"/>
              <a:t>RNAs</a:t>
            </a:r>
            <a:r>
              <a:rPr lang="pt-BR" sz="2800" dirty="0"/>
              <a:t>:</a:t>
            </a:r>
          </a:p>
          <a:p>
            <a:pPr lvl="2">
              <a:lnSpc>
                <a:spcPct val="200000"/>
              </a:lnSpc>
            </a:pPr>
            <a:r>
              <a:rPr lang="pt-BR" sz="2400" dirty="0" err="1"/>
              <a:t>Perceptron</a:t>
            </a:r>
            <a:endParaRPr lang="pt-BR" sz="2400" dirty="0"/>
          </a:p>
          <a:p>
            <a:pPr lvl="2">
              <a:lnSpc>
                <a:spcPct val="200000"/>
              </a:lnSpc>
            </a:pPr>
            <a:r>
              <a:rPr lang="pt-BR" sz="2400" dirty="0" err="1"/>
              <a:t>Perceptron</a:t>
            </a:r>
            <a:r>
              <a:rPr lang="pt-BR" sz="2400" dirty="0"/>
              <a:t> Multicamadas</a:t>
            </a:r>
          </a:p>
          <a:p>
            <a:pPr lvl="2">
              <a:lnSpc>
                <a:spcPct val="200000"/>
              </a:lnSpc>
            </a:pPr>
            <a:r>
              <a:rPr lang="pt-BR" sz="2400" dirty="0"/>
              <a:t>RBF</a:t>
            </a:r>
          </a:p>
          <a:p>
            <a:pPr lvl="2">
              <a:lnSpc>
                <a:spcPct val="200000"/>
              </a:lnSpc>
            </a:pPr>
            <a:r>
              <a:rPr lang="pt-BR" sz="2400" dirty="0"/>
              <a:t>LVQ</a:t>
            </a:r>
          </a:p>
          <a:p>
            <a:pPr lvl="2">
              <a:lnSpc>
                <a:spcPct val="200000"/>
              </a:lnSpc>
            </a:pPr>
            <a:r>
              <a:rPr lang="pt-BR" sz="2400" dirty="0"/>
              <a:t>Rede de </a:t>
            </a:r>
            <a:r>
              <a:rPr lang="pt-BR" sz="2400" dirty="0" err="1"/>
              <a:t>Kohonen</a:t>
            </a:r>
            <a:endParaRPr lang="pt-BR" sz="2400" dirty="0"/>
          </a:p>
          <a:p>
            <a:pPr lvl="1">
              <a:lnSpc>
                <a:spcPct val="200000"/>
              </a:lnSpc>
            </a:pPr>
            <a:endParaRPr lang="pt-BR" dirty="0"/>
          </a:p>
        </p:txBody>
      </p:sp>
    </p:spTree>
    <p:extLst>
      <p:ext uri="{BB962C8B-B14F-4D97-AF65-F5344CB8AC3E}">
        <p14:creationId xmlns:p14="http://schemas.microsoft.com/office/powerpoint/2010/main" val="30362278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EDD5D-3DE4-4157-BCC0-D4AF39091AF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5096792-C397-C141-02FE-40A8DEB2B17D}"/>
              </a:ext>
            </a:extLst>
          </p:cNvPr>
          <p:cNvSpPr>
            <a:spLocks noGrp="1"/>
          </p:cNvSpPr>
          <p:nvPr>
            <p:ph type="title"/>
          </p:nvPr>
        </p:nvSpPr>
        <p:spPr/>
        <p:txBody>
          <a:bodyPr/>
          <a:lstStyle/>
          <a:p>
            <a:r>
              <a:rPr lang="pt-BR" dirty="0"/>
              <a:t>PRATIQUE 01</a:t>
            </a:r>
          </a:p>
        </p:txBody>
      </p:sp>
      <p:sp>
        <p:nvSpPr>
          <p:cNvPr id="3" name="Espaço Reservado para Conteúdo 2">
            <a:extLst>
              <a:ext uri="{FF2B5EF4-FFF2-40B4-BE49-F238E27FC236}">
                <a16:creationId xmlns:a16="http://schemas.microsoft.com/office/drawing/2014/main" id="{516F708B-D6F1-1ABF-40A7-EB56F4F150D7}"/>
              </a:ext>
            </a:extLst>
          </p:cNvPr>
          <p:cNvSpPr>
            <a:spLocks noGrp="1"/>
          </p:cNvSpPr>
          <p:nvPr>
            <p:ph idx="1"/>
          </p:nvPr>
        </p:nvSpPr>
        <p:spPr/>
        <p:txBody>
          <a:bodyPr>
            <a:normAutofit/>
          </a:bodyPr>
          <a:lstStyle/>
          <a:p>
            <a:pPr lvl="1">
              <a:lnSpc>
                <a:spcPct val="200000"/>
              </a:lnSpc>
            </a:pPr>
            <a:r>
              <a:rPr lang="pt-BR" sz="2800" dirty="0"/>
              <a:t>PROBLEMA: João deve brincar no parquinho ou ficar em casa.</a:t>
            </a:r>
          </a:p>
          <a:p>
            <a:pPr lvl="2">
              <a:lnSpc>
                <a:spcPct val="200000"/>
              </a:lnSpc>
            </a:pPr>
            <a:endParaRPr lang="pt-BR" dirty="0"/>
          </a:p>
        </p:txBody>
      </p:sp>
      <p:pic>
        <p:nvPicPr>
          <p:cNvPr id="4" name="Picture 2">
            <a:extLst>
              <a:ext uri="{FF2B5EF4-FFF2-40B4-BE49-F238E27FC236}">
                <a16:creationId xmlns:a16="http://schemas.microsoft.com/office/drawing/2014/main" id="{E415E755-E0E9-98CB-756E-1B7508919DD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64" r="2497" b="22867"/>
          <a:stretch/>
        </p:blipFill>
        <p:spPr bwMode="auto">
          <a:xfrm>
            <a:off x="2703256" y="2507225"/>
            <a:ext cx="6785487" cy="34921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1778627"/>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presentação1" id="{519DD450-0FD0-43C8-BED2-E86A111C1ED0}" vid="{DBF68A65-C0F8-48F0-831D-B2292EB8293A}"/>
    </a:ext>
  </a:extLst>
</a:theme>
</file>

<file path=docProps/app.xml><?xml version="1.0" encoding="utf-8"?>
<Properties xmlns="http://schemas.openxmlformats.org/officeDocument/2006/extended-properties" xmlns:vt="http://schemas.openxmlformats.org/officeDocument/2006/docPropsVTypes">
  <Template/>
  <TotalTime>642</TotalTime>
  <Words>1134</Words>
  <Application>Microsoft Office PowerPoint</Application>
  <PresentationFormat>Widescreen</PresentationFormat>
  <Paragraphs>84</Paragraphs>
  <Slides>24</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24</vt:i4>
      </vt:variant>
    </vt:vector>
  </HeadingPairs>
  <TitlesOfParts>
    <vt:vector size="29" baseType="lpstr">
      <vt:lpstr>Arial</vt:lpstr>
      <vt:lpstr>Arial Black</vt:lpstr>
      <vt:lpstr>Calibri</vt:lpstr>
      <vt:lpstr>Calibri Light</vt:lpstr>
      <vt:lpstr>Tema do Office</vt:lpstr>
      <vt:lpstr>Apresentação do PowerPoint</vt:lpstr>
      <vt:lpstr>ROTEIRO</vt:lpstr>
      <vt:lpstr>INTRODUÇÃO</vt:lpstr>
      <vt:lpstr>INTRODUÇÃO</vt:lpstr>
      <vt:lpstr>INTRODUÇÃO</vt:lpstr>
      <vt:lpstr>INTRODUÇÃO</vt:lpstr>
      <vt:lpstr>INTRODUÇÃO</vt:lpstr>
      <vt:lpstr>INTRODUÇÃO</vt:lpstr>
      <vt:lpstr>REDES NEURAIS - HISTÓRICO</vt:lpstr>
      <vt:lpstr>REDES NEURAIS - HISTÓRICO</vt:lpstr>
      <vt:lpstr>REDES NEURAIS - HISTÓRICO</vt:lpstr>
      <vt:lpstr>REDES NEURAIS ARTIFICIAIS</vt:lpstr>
      <vt:lpstr>REDES NEURAIS ARTIFICIAIS</vt:lpstr>
      <vt:lpstr>REDES NEURAIS ARTIFICIAIS</vt:lpstr>
      <vt:lpstr>REDES NEURAIS ARTIFICIAIS</vt:lpstr>
      <vt:lpstr>REDES NEURAIS ARTIFICIAIS</vt:lpstr>
      <vt:lpstr>MODELO MATEMÁTICO</vt:lpstr>
      <vt:lpstr>REDES NEURAIS ARTIFICIAIS</vt:lpstr>
      <vt:lpstr>REDES NEURAIS ARTIFICIAIS</vt:lpstr>
      <vt:lpstr>REDES NEURAIS ARTIFICIAIS</vt:lpstr>
      <vt:lpstr>REDES NEURAIS ARTIFICIAIS</vt:lpstr>
      <vt:lpstr>REDES NEURAIS ARTIFICIAIS</vt:lpstr>
      <vt:lpstr>REDES NEURAIS ARTIFICIAIS</vt:lpstr>
      <vt:lpstr>PRATIQUE 01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Thissiany B Almeida</dc:creator>
  <cp:lastModifiedBy>Thissiany B Almeida</cp:lastModifiedBy>
  <cp:revision>10</cp:revision>
  <dcterms:created xsi:type="dcterms:W3CDTF">2024-01-16T01:35:38Z</dcterms:created>
  <dcterms:modified xsi:type="dcterms:W3CDTF">2025-04-23T04:43:04Z</dcterms:modified>
</cp:coreProperties>
</file>